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079da622c2341ef" /><Relationship Type="http://schemas.openxmlformats.org/officeDocument/2006/relationships/extended-properties" Target="/docProps/app.xml" Id="Re29488667dfd4717" /><Relationship Type="http://schemas.openxmlformats.org/officeDocument/2006/relationships/officeDocument" Target="/ppt/presentation.xml" Id="Rc2a65d8af60c420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6de43483a344e1a"/>
  </p:sldMasterIdLst>
  <p:notesMasterIdLst>
    <p:notesMasterId xmlns:r="http://schemas.openxmlformats.org/officeDocument/2006/relationships" r:id="R7953a223af6c4ee5"/>
  </p:notesMasterIdLst>
  <p:sldIdLst>
    <p:sldId xmlns:r="http://schemas.openxmlformats.org/officeDocument/2006/relationships" id="256" r:id="Rb516c8f77c764742"/>
    <p:sldId xmlns:r="http://schemas.openxmlformats.org/officeDocument/2006/relationships" id="257" r:id="Rb241bc22313c478f"/>
    <p:sldId xmlns:r="http://schemas.openxmlformats.org/officeDocument/2006/relationships" id="258" r:id="R51eb6fd55e36417d"/>
    <p:sldId xmlns:r="http://schemas.openxmlformats.org/officeDocument/2006/relationships" id="259" r:id="R8401ba7759a04ff1"/>
    <p:sldId xmlns:r="http://schemas.openxmlformats.org/officeDocument/2006/relationships" id="260" r:id="Rb0b9edcf2d4044b8"/>
    <p:sldId xmlns:r="http://schemas.openxmlformats.org/officeDocument/2006/relationships" id="261" r:id="Rbb2a141fa9c14505"/>
    <p:sldId xmlns:r="http://schemas.openxmlformats.org/officeDocument/2006/relationships" id="262" r:id="R1d78358c4223407d"/>
    <p:sldId xmlns:r="http://schemas.openxmlformats.org/officeDocument/2006/relationships" id="263" r:id="Rd54751f528354926"/>
    <p:sldId xmlns:r="http://schemas.openxmlformats.org/officeDocument/2006/relationships" id="264" r:id="R76fa380716c94e6f"/>
    <p:sldId xmlns:r="http://schemas.openxmlformats.org/officeDocument/2006/relationships" id="265" r:id="Rc9a1687744984786"/>
    <p:sldId xmlns:r="http://schemas.openxmlformats.org/officeDocument/2006/relationships" id="266" r:id="Re9441e51779546d3"/>
    <p:sldId xmlns:r="http://schemas.openxmlformats.org/officeDocument/2006/relationships" id="267" r:id="R98fed0844cc74376"/>
  </p:sldIdLst>
  <p:sldSz cx="9144000" cy="5143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266517818fa438f" /><Relationship Type="http://schemas.openxmlformats.org/officeDocument/2006/relationships/slideMaster" Target="/ppt/slideMasters/slideMaster1.xml" Id="R86de43483a344e1a" /><Relationship Type="http://schemas.openxmlformats.org/officeDocument/2006/relationships/notesMaster" Target="/ppt/notesMasters/notesMaster1.xml" Id="R7953a223af6c4ee5" /><Relationship Type="http://schemas.openxmlformats.org/officeDocument/2006/relationships/presProps" Target="/ppt/presProps.xml" Id="R3551717a3a1f4480" /><Relationship Type="http://schemas.openxmlformats.org/officeDocument/2006/relationships/viewProps" Target="/ppt/viewProps.xml" Id="R4fa7b78c25564526" /><Relationship Type="http://schemas.openxmlformats.org/officeDocument/2006/relationships/tableStyles" Target="/ppt/tableStyles.xml" Id="Re0877a8fe88449b3" /><Relationship Type="http://schemas.openxmlformats.org/officeDocument/2006/relationships/slide" Target="/ppt/slides/slide1.xml" Id="Rb516c8f77c764742" /><Relationship Type="http://schemas.openxmlformats.org/officeDocument/2006/relationships/slide" Target="/ppt/slides/slide2.xml" Id="Rb241bc22313c478f" /><Relationship Type="http://schemas.openxmlformats.org/officeDocument/2006/relationships/slide" Target="/ppt/slides/slide3.xml" Id="R51eb6fd55e36417d" /><Relationship Type="http://schemas.openxmlformats.org/officeDocument/2006/relationships/slide" Target="/ppt/slides/slide4.xml" Id="R8401ba7759a04ff1" /><Relationship Type="http://schemas.openxmlformats.org/officeDocument/2006/relationships/slide" Target="/ppt/slides/slide5.xml" Id="Rb0b9edcf2d4044b8" /><Relationship Type="http://schemas.openxmlformats.org/officeDocument/2006/relationships/slide" Target="/ppt/slides/slide6.xml" Id="Rbb2a141fa9c14505" /><Relationship Type="http://schemas.openxmlformats.org/officeDocument/2006/relationships/slide" Target="/ppt/slides/slide7.xml" Id="R1d78358c4223407d" /><Relationship Type="http://schemas.openxmlformats.org/officeDocument/2006/relationships/slide" Target="/ppt/slides/slide8.xml" Id="Rd54751f528354926" /><Relationship Type="http://schemas.openxmlformats.org/officeDocument/2006/relationships/slide" Target="/ppt/slides/slide9.xml" Id="R76fa380716c94e6f" /><Relationship Type="http://schemas.openxmlformats.org/officeDocument/2006/relationships/slide" Target="/ppt/slides/slide10.xml" Id="Rc9a1687744984786" /><Relationship Type="http://schemas.openxmlformats.org/officeDocument/2006/relationships/slide" Target="/ppt/slides/slide11.xml" Id="Re9441e51779546d3" /><Relationship Type="http://schemas.openxmlformats.org/officeDocument/2006/relationships/slide" Target="/ppt/slides/slide12.xml" Id="R98fed0844cc7437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fecdc5d61bb498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99e14189d7a44ae" /><Relationship Type="http://schemas.openxmlformats.org/officeDocument/2006/relationships/notesMaster" Target="/ppt/notesMasters/notesMaster1.xml" Id="Rbc5d9e433aae424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f8d3a61a0b24033" /><Relationship Type="http://schemas.openxmlformats.org/officeDocument/2006/relationships/notesMaster" Target="/ppt/notesMasters/notesMaster1.xml" Id="Rb2099bd3f6a446a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75b591ec1cd4440" /><Relationship Type="http://schemas.openxmlformats.org/officeDocument/2006/relationships/notesMaster" Target="/ppt/notesMasters/notesMaster1.xml" Id="Ra7f3c24a96ef40c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336ac0f83024cca" /><Relationship Type="http://schemas.openxmlformats.org/officeDocument/2006/relationships/notesMaster" Target="/ppt/notesMasters/notesMaster1.xml" Id="Rf1fdb4e33b3d48b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3379fc8b1354608" /><Relationship Type="http://schemas.openxmlformats.org/officeDocument/2006/relationships/notesMaster" Target="/ppt/notesMasters/notesMaster1.xml" Id="Re9e0cd78d72b4c6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fc6cc67d41e4139" /><Relationship Type="http://schemas.openxmlformats.org/officeDocument/2006/relationships/notesMaster" Target="/ppt/notesMasters/notesMaster1.xml" Id="R05b7b2a37509451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1f2c86e60d84e68" /><Relationship Type="http://schemas.openxmlformats.org/officeDocument/2006/relationships/notesMaster" Target="/ppt/notesMasters/notesMaster1.xml" Id="R713c142a4d5a427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d8085546c534762" /><Relationship Type="http://schemas.openxmlformats.org/officeDocument/2006/relationships/notesMaster" Target="/ppt/notesMasters/notesMaster1.xml" Id="R33fa8f5e4da24e9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87473f9b0494257" /><Relationship Type="http://schemas.openxmlformats.org/officeDocument/2006/relationships/notesMaster" Target="/ppt/notesMasters/notesMaster1.xml" Id="R0766cf0dd6974d2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55ad98c31004cb0" /><Relationship Type="http://schemas.openxmlformats.org/officeDocument/2006/relationships/notesMaster" Target="/ppt/notesMasters/notesMaster1.xml" Id="R9ffa74f9030843b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5ea2dbc9e104272" /><Relationship Type="http://schemas.openxmlformats.org/officeDocument/2006/relationships/notesMaster" Target="/ppt/notesMasters/notesMaster1.xml" Id="R080cbbd26e4c44b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e009ea698b7463c" /><Relationship Type="http://schemas.openxmlformats.org/officeDocument/2006/relationships/notesMaster" Target="/ppt/notesMasters/notesMaster1.xml" Id="Rbbed9f2dae8b40f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result: this is a working, certified operating platform.</a:t>
            </a:r>
          </a:p>
          <a:p xmlns:a="http://schemas.openxmlformats.org/drawingml/2006/main">
            <a:r>
              <a:t>The board decision is about the activation path, not whether the concept is technically possible.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Internal: .sandfest-runtime/board-capability-certification.json</a:t>
            </a:r>
          </a:p>
          <a:p xmlns:a="http://schemas.openxmlformats.org/drawingml/2006/main">
            <a:r>
              <a:t>- Internal: 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Frame the shift from product exploration to governed launch.</a:t>
            </a:r>
          </a:p>
          <a:p xmlns:a="http://schemas.openxmlformats.org/drawingml/2006/main">
            <a:r>
              <a:t>The product proof and the production controls are both part of the value proposition.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Internal: .sandfest-runtime/board-capability-certification.json</a:t>
            </a:r>
          </a:p>
          <a:p xmlns:a="http://schemas.openxmlformats.org/drawingml/2006/main">
            <a:r>
              <a:t>- Internal: docs/deploy-runbook.md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Emphasize that SandFest owns the operating truth while proven providers remain systems of record.</a:t>
            </a:r>
          </a:p>
          <a:p xmlns:a="http://schemas.openxmlformats.org/drawingml/2006/main">
            <a:r>
              <a:t>This model protects focus and avoids rebuilding commodity software.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Internal: docs/ultimate-festival-platform.md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clockwise: visitor, partner, operations, then field and iOS.</a:t>
            </a:r>
          </a:p>
          <a:p xmlns:a="http://schemas.openxmlformats.org/drawingml/2006/main">
            <a:r>
              <a:t>All four experiences share the same governed API and annual event context.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Internal: 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core evidence slide.</a:t>
            </a:r>
          </a:p>
          <a:p xmlns:a="http://schemas.openxmlformats.org/drawingml/2006/main">
            <a:r>
              <a:t>Call out that every journey restores the same 12-of-12 baseline before the next journey begins.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Internal: .sandfest-runtime/board-capability-certification.json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these columns as the live demo route.</a:t>
            </a:r>
          </a:p>
          <a:p xmlns:a="http://schemas.openxmlformats.org/drawingml/2006/main">
            <a:r>
              <a:t>Keep the walkthrough outcome-oriented: show the closed loops, not every control.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Internal: docs/board-runtime.md</a:t>
            </a:r>
          </a:p>
          <a:p xmlns:a="http://schemas.openxmlformats.org/drawingml/2006/main">
            <a:r>
              <a:t>- Internal: 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State the boundary plainly: the board demo is real product behavior with synthetic providers.</a:t>
            </a:r>
          </a:p>
          <a:p xmlns:a="http://schemas.openxmlformats.org/drawingml/2006/main">
            <a:r>
              <a:t>No external message, charge, live feed, or production claim is required for the presentation.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Internal: .sandfest-runtime/board-capability-certification.json</a:t>
            </a:r>
          </a:p>
          <a:p xmlns:a="http://schemas.openxmlformats.org/drawingml/2006/main">
            <a:r>
              <a:t>- Internal: docs/deploy-runbook.md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activation sequence is intentionally staged.</a:t>
            </a:r>
          </a:p>
          <a:p xmlns:a="http://schemas.openxmlformats.org/drawingml/2006/main">
            <a:r>
              <a:t>Each provider earns production enablement through its own account, configuration, and acceptance proof.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Internal: docs/deploy-runbook.md</a:t>
            </a:r>
          </a:p>
          <a:p xmlns:a="http://schemas.openxmlformats.org/drawingml/2006/main">
            <a:r>
              <a:t>- Internal: docs/ultimate-festival-platform.md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Ask for owners and approvals, not passwords in the meeting.</a:t>
            </a:r>
          </a:p>
          <a:p xmlns:a="http://schemas.openxmlformats.org/drawingml/2006/main">
            <a:r>
              <a:t>Source documents remain private and enter the governed ingestion workflow after the board session.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Internal: docs/incoming-access-intake.md</a:t>
            </a:r>
          </a:p>
          <a:p xmlns:a="http://schemas.openxmlformats.org/drawingml/2006/main">
            <a:r>
              <a:t>- Internal: docs/deploy-runbook.md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Connect each risk to the gate that contains it.</a:t>
            </a:r>
          </a:p>
          <a:p xmlns:a="http://schemas.openxmlformats.org/drawingml/2006/main">
            <a:r>
              <a:t>The platform is designed to make incomplete launch evidence visible instead of silently degrading.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Internal: README.md</a:t>
            </a:r>
          </a:p>
          <a:p xmlns:a="http://schemas.openxmlformats.org/drawingml/2006/main">
            <a:r>
              <a:t>- Internal: docs/deploy-runbook.md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Pause on this slide and secure explicit agreement for each item.</a:t>
            </a:r>
          </a:p>
          <a:p xmlns:a="http://schemas.openxmlformats.org/drawingml/2006/main">
            <a:r>
              <a:t>Capture one accountable owner and next date for every approved activation category.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Internal: docs/ultimate-festival-platform.md</a:t>
            </a:r>
          </a:p>
          <a:p xmlns:a="http://schemas.openxmlformats.org/drawingml/2006/main">
            <a:r>
              <a:t>- Internal: docs/deploy-runbook.md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tying the requested decision back to the verified proof.</a:t>
            </a:r>
          </a:p>
          <a:p xmlns:a="http://schemas.openxmlformats.org/drawingml/2006/main">
            <a:r>
              <a:t>After approval, activate one provider at a time and preserve the same fail-closed acceptance discipline.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Internal: .sandfest-runtime/board-capability-certification.json</a:t>
            </a:r>
          </a:p>
          <a:p xmlns:a="http://schemas.openxmlformats.org/drawingml/2006/main">
            <a:r>
              <a:t>- Internal: docs/board-runtime.md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66c0d98797459b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0366c8b64db457f" /><Relationship Type="http://schemas.openxmlformats.org/officeDocument/2006/relationships/slideLayout" Target="/ppt/slideLayouts/slideLayout1.xml" Id="Ra1168133c895410c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1168133c895410c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9ee43ac9f4473d" /><Relationship Type="http://schemas.openxmlformats.org/officeDocument/2006/relationships/notesSlide" Target="/ppt/notesSlides/notesSlide1.xml" Id="R0107993a74ae444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d900dac15c4b53" /><Relationship Type="http://schemas.openxmlformats.org/officeDocument/2006/relationships/notesSlide" Target="/ppt/notesSlides/notesSlide2.xml" Id="R07aaaae7bf9b489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fc7eb9a7244b94" /><Relationship Type="http://schemas.openxmlformats.org/officeDocument/2006/relationships/notesSlide" Target="/ppt/notesSlides/notesSlide3.xml" Id="R85e265856b634ab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e3441cec354681" /><Relationship Type="http://schemas.openxmlformats.org/officeDocument/2006/relationships/notesSlide" Target="/ppt/notesSlides/notesSlide4.xml" Id="R007ccf034f684fa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6e3fca66ec4aa3" /><Relationship Type="http://schemas.openxmlformats.org/officeDocument/2006/relationships/notesSlide" Target="/ppt/notesSlides/notesSlide5.xml" Id="Rcbeb492f2c51438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937d13670e49d6" /><Relationship Type="http://schemas.openxmlformats.org/officeDocument/2006/relationships/notesSlide" Target="/ppt/notesSlides/notesSlide6.xml" Id="R1dc1555fac5d48a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f9737519564f5e" /><Relationship Type="http://schemas.openxmlformats.org/officeDocument/2006/relationships/notesSlide" Target="/ppt/notesSlides/notesSlide7.xml" Id="R6e8f43ff1426437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b5abebc4094f9d" /><Relationship Type="http://schemas.openxmlformats.org/officeDocument/2006/relationships/notesSlide" Target="/ppt/notesSlides/notesSlide8.xml" Id="R33262f6c905b42c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83b6ac5ad24a7b" /><Relationship Type="http://schemas.openxmlformats.org/officeDocument/2006/relationships/notesSlide" Target="/ppt/notesSlides/notesSlide9.xml" Id="Rfbae3b5da530476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fe07be230743a4" /><Relationship Type="http://schemas.openxmlformats.org/officeDocument/2006/relationships/notesSlide" Target="/ppt/notesSlides/notesSlide10.xml" Id="R703a1a942bc644c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58377a5c47484f" /><Relationship Type="http://schemas.openxmlformats.org/officeDocument/2006/relationships/notesSlide" Target="/ppt/notesSlides/notesSlide11.xml" Id="Rdcb4ada520884d2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8cf592d3504fcc" /><Relationship Type="http://schemas.openxmlformats.org/officeDocument/2006/relationships/notesSlide" Target="/ppt/notesSlides/notesSlide12.xml" Id="R798460a73325427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22362BA-4E43-49D2-B7BD-90871B288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33A"/>
          </a:solidFill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AF4E27E-A4FA-4B8B-9798-84FC367E5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06240"/>
            <a:ext cx="9144000" cy="9372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D77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9DBEF05D-1670-49F2-B162-ECFD85093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188720"/>
            <a:ext cx="8046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4DFAC"/>
                </a:solidFill>
                <a:latin typeface="Calibri"/>
                <a:ea typeface="Calibri"/>
                <a:cs typeface="Calibri"/>
              </a:rPr>
              <a:t>TEXAS SANDFEST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FE3BB1E-4B6D-4A06-B111-80A69F613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0"/>
            <a:ext cx="804672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600" b="1">
                <a:solidFill>
                  <a:srgbClr val="FFFDF7"/>
                </a:solidFill>
                <a:latin typeface="Georgia"/>
                <a:ea typeface="Georgia"/>
                <a:cs typeface="Georgia"/>
              </a:rPr>
              <a:t>A Certified Festival Platform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4E10F9DE-EE57-48ED-9252-9091C00D5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606040"/>
            <a:ext cx="77724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F4DFAC"/>
                </a:solidFill>
                <a:latin typeface="Calibri"/>
                <a:ea typeface="Calibri"/>
                <a:cs typeface="Calibri"/>
              </a:rPr>
              <a:t>Board briefing — certified product, controlled activation, clear decisions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99CCE7B3-B71A-4340-814F-C8CA20D45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434840"/>
            <a:ext cx="8046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FFFDF7"/>
                </a:solidFill>
                <a:latin typeface="Calibri"/>
                <a:ea typeface="Calibri"/>
                <a:cs typeface="Calibri"/>
              </a:rPr>
              <a:t>Port Aransas  ·  Visitor experience  ·  Partner operations  ·  Event-day command</a:t>
            </a:r>
          </a:p>
        </p:txBody>
      </p:sp>
    </p:spTree>
    <p:extLst>
      <p:ext uri="{BB962C8B-B14F-4D97-AF65-F5344CB8AC3E}">
        <p14:creationId xmlns:p14="http://schemas.microsoft.com/office/powerpoint/2010/main" val="13646336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35ED6D0-FC60-4E4D-BB4C-EFA62BC14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5EC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CEE5695-E60B-4C83-87C8-6AE2C7978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0040"/>
            <a:ext cx="8229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12333A"/>
                </a:solidFill>
                <a:latin typeface="Georgia"/>
                <a:ea typeface="Georgia"/>
                <a:cs typeface="Georgia"/>
              </a:rPr>
              <a:t>The product works; activation is the decision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E24542D-4821-40C3-BEED-73898D7C4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97280"/>
            <a:ext cx="2697480" cy="3108960"/>
          </a:xfrm>
          <a:prstGeom xmlns:a="http://schemas.openxmlformats.org/drawingml/2006/main" prst="roundRect">
            <a:avLst>
              <a:gd name="adj" fmla="val 4068"/>
            </a:avLst>
          </a:prstGeom>
          <a:solidFill xmlns:a="http://schemas.openxmlformats.org/drawingml/2006/main">
            <a:srgbClr val="FFFDF7"/>
          </a:solidFill>
          <a:effectLst xmlns:a="http://schemas.openxmlformats.org/drawingml/2006/main">
            <a:outerShdw blurRad="101600" dist="25400" dir="162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EE9F7829-88C4-4A77-9E32-459725BF9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97280"/>
            <a:ext cx="269748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D77"/>
          </a:solidFill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18477ED7-EFA4-4346-87F3-844D624FC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23317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12333A"/>
                </a:solidFill>
                <a:latin typeface="Georgia"/>
                <a:ea typeface="Georgia"/>
                <a:cs typeface="Georgia"/>
              </a:rPr>
              <a:t>Working product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2B40932C-A1A3-479B-B3C2-848EC877A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65960"/>
            <a:ext cx="2331720" cy="1920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172126"/>
                </a:solidFill>
                <a:latin typeface="Calibri"/>
                <a:ea typeface="Calibri"/>
                <a:cs typeface="Calibri"/>
              </a:rPr>
              <a:t>The presentation stack now completes visitor, partner, staff, finance, document, and event-day workflows end to end.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D34E3338-8DB5-4F64-B05F-CBF3F8E32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1097280"/>
            <a:ext cx="2697480" cy="3108960"/>
          </a:xfrm>
          <a:prstGeom xmlns:a="http://schemas.openxmlformats.org/drawingml/2006/main" prst="roundRect">
            <a:avLst>
              <a:gd name="adj" fmla="val 4068"/>
            </a:avLst>
          </a:prstGeom>
          <a:solidFill xmlns:a="http://schemas.openxmlformats.org/drawingml/2006/main">
            <a:srgbClr val="FFFDF7"/>
          </a:solidFill>
          <a:effectLst xmlns:a="http://schemas.openxmlformats.org/drawingml/2006/main">
            <a:outerShdw blurRad="101600" dist="25400" dir="162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6636513E-3D4A-4566-9C0F-871506B79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1097280"/>
            <a:ext cx="269748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D77"/>
          </a:solidFill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F83FC2B0-02FF-4E7C-9F8E-08A507DB1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1417320"/>
            <a:ext cx="23317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12333A"/>
                </a:solidFill>
                <a:latin typeface="Georgia"/>
                <a:ea typeface="Georgia"/>
                <a:cs typeface="Georgia"/>
              </a:rPr>
              <a:t>Governed launch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8118D9F8-3173-4BF7-A603-9125395C2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1965960"/>
            <a:ext cx="2331720" cy="1920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172126"/>
                </a:solidFill>
                <a:latin typeface="Calibri"/>
                <a:ea typeface="Calibri"/>
                <a:cs typeface="Calibri"/>
              </a:rPr>
              <a:t>Production capabilities remain closed until the right account, source, policy, origin, and recovery evidence is present.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9508D01F-C0E1-4220-9C8E-B926F64B7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097280"/>
            <a:ext cx="2697480" cy="3108960"/>
          </a:xfrm>
          <a:prstGeom xmlns:a="http://schemas.openxmlformats.org/drawingml/2006/main" prst="roundRect">
            <a:avLst>
              <a:gd name="adj" fmla="val 4068"/>
            </a:avLst>
          </a:prstGeom>
          <a:solidFill xmlns:a="http://schemas.openxmlformats.org/drawingml/2006/main">
            <a:srgbClr val="FFFDF7"/>
          </a:solidFill>
          <a:effectLst xmlns:a="http://schemas.openxmlformats.org/drawingml/2006/main">
            <a:outerShdw blurRad="101600" dist="25400" dir="162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F7F46B5F-BF4F-48D7-B6B3-D609A56B9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097280"/>
            <a:ext cx="269748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D4A"/>
          </a:solidFill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76D01962-B798-4E99-B2A7-37349A978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17320"/>
            <a:ext cx="23317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12333A"/>
                </a:solidFill>
                <a:latin typeface="Georgia"/>
                <a:ea typeface="Georgia"/>
                <a:cs typeface="Georgia"/>
              </a:rPr>
              <a:t>Board choice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DDD466B4-7C71-4C42-87F5-465004544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965960"/>
            <a:ext cx="2331720" cy="1920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172126"/>
                </a:solidFill>
                <a:latin typeface="Calibri"/>
                <a:ea typeface="Calibri"/>
                <a:cs typeface="Calibri"/>
              </a:rPr>
              <a:t>Move from feature debate to a controlled activation plan with accountable owners and one provider connected at a time.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E0766C7A-F62C-4345-BFB6-ED0F752F8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28032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5747C"/>
                </a:solidFill>
                <a:latin typeface="Calibri"/>
                <a:ea typeface="Calibri"/>
                <a:cs typeface="Calibri"/>
              </a:rPr>
              <a:t>Texas SandFest  ·  Confidential board briefing  ·  July 2026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452479B-9F6B-448F-93FF-3BB22A203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828032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5747C"/>
                </a:solidFill>
                <a:latin typeface="Calibri"/>
                <a:ea typeface="Calibri"/>
                <a:cs typeface="Calibri"/>
              </a:rPr>
              <a:t>2 / 12</a:t>
            </a:r>
          </a:p>
        </p:txBody>
      </p:sp>
    </p:spTree>
    <p:extLst>
      <p:ext uri="{BB962C8B-B14F-4D97-AF65-F5344CB8AC3E}">
        <p14:creationId xmlns:p14="http://schemas.microsoft.com/office/powerpoint/2010/main" val="194466099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2FA1E546-52E1-4904-8E54-955F4622B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5EC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F742E5F-2AC6-4814-BDDA-0ECDA0D1F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0040"/>
            <a:ext cx="8229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12333A"/>
                </a:solidFill>
                <a:latin typeface="Georgia"/>
                <a:ea typeface="Georgia"/>
                <a:cs typeface="Georgia"/>
              </a:rPr>
              <a:t>Control the hub; integrate proven systems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CB04782-79DD-4752-BB34-2C3E762E6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05840"/>
            <a:ext cx="8229600" cy="128016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12333A"/>
          </a:solidFill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7E1FD2FF-06EF-49D9-A5A4-515641DB0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280160"/>
            <a:ext cx="768096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i="1">
                <a:solidFill>
                  <a:srgbClr val="F4DFAC"/>
                </a:solidFill>
                <a:latin typeface="Georgia"/>
                <a:ea typeface="Georgia"/>
                <a:cs typeface="Georgia"/>
              </a:rPr>
              <a:t>Own the operating hub. Integrate proven providers. Build the SandFest experiences nobody else will.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C481C500-2190-43BD-BEDE-A8BAD9980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234440" cy="384048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006D77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87246149-BC5A-458A-8DEF-508170B26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2344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DF7"/>
                </a:solidFill>
                <a:latin typeface="Calibri"/>
                <a:ea typeface="Calibri"/>
                <a:cs typeface="Calibri"/>
              </a:rPr>
              <a:t>KEEP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389766D-36D6-462F-B19B-9DDA9E4BE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560320"/>
            <a:ext cx="23774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2333A"/>
                </a:solidFill>
                <a:latin typeface="Calibri"/>
                <a:ea typeface="Calibri"/>
                <a:cs typeface="Calibri"/>
              </a:rPr>
              <a:t>Eventeny + existing systems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1FD7FCC2-DB0B-4E1C-A94D-AA5ADB45D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2560320"/>
            <a:ext cx="44805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72126"/>
                </a:solidFill>
                <a:latin typeface="Calibri"/>
                <a:ea typeface="Calibri"/>
                <a:cs typeface="Calibri"/>
              </a:rPr>
              <a:t>Application, ticket, vendor, volunteer, and accounting source systems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CE090B4A-8490-432E-810E-5917DE378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35808"/>
            <a:ext cx="1234440" cy="384048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006D77"/>
          </a:solidFill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1371CAB2-43C7-48F1-9DFB-C1B05D4C9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35808"/>
            <a:ext cx="12344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DF7"/>
                </a:solidFill>
                <a:latin typeface="Calibri"/>
                <a:ea typeface="Calibri"/>
                <a:cs typeface="Calibri"/>
              </a:rPr>
              <a:t>BUY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0FC3073-253A-4577-ACCB-E8C22D210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035808"/>
            <a:ext cx="23774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2333A"/>
                </a:solidFill>
                <a:latin typeface="Calibri"/>
                <a:ea typeface="Calibri"/>
                <a:cs typeface="Calibri"/>
              </a:rPr>
              <a:t>Stripe · QB · Brevo · Twilio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541BAFA4-14F0-4BD8-9610-C0DE06207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3035808"/>
            <a:ext cx="44805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72126"/>
                </a:solidFill>
                <a:latin typeface="Calibri"/>
                <a:ea typeface="Calibri"/>
                <a:cs typeface="Calibri"/>
              </a:rPr>
              <a:t>Payments, accounting, delivery, SMS, and maps after account activation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0E79061A-BFF5-43AF-B3C3-1E09AEF30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511296"/>
            <a:ext cx="1234440" cy="384048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006D77"/>
          </a:solidFill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82EC5CE9-6B35-4025-8F69-477615D9A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511296"/>
            <a:ext cx="12344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DF7"/>
                </a:solidFill>
                <a:latin typeface="Calibri"/>
                <a:ea typeface="Calibri"/>
                <a:cs typeface="Calibri"/>
              </a:rPr>
              <a:t>BUILD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893727F3-A727-44D0-B0C0-6C7BAA3B5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511296"/>
            <a:ext cx="23774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2333A"/>
                </a:solidFill>
                <a:latin typeface="Calibri"/>
                <a:ea typeface="Calibri"/>
                <a:cs typeface="Calibri"/>
              </a:rPr>
              <a:t>SandFest web + API + iOS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B72C668-4029-4849-AA9D-6F0BA9FBA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3511296"/>
            <a:ext cx="44805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72126"/>
                </a:solidFill>
                <a:latin typeface="Calibri"/>
                <a:ea typeface="Calibri"/>
                <a:cs typeface="Calibri"/>
              </a:rPr>
              <a:t>Visitor, partner, operations, finance, documents, and field command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4198FF91-2B9F-4E7E-A37F-96E9FFC30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86784"/>
            <a:ext cx="1234440" cy="384048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85D4A"/>
          </a:solidFill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F9FFB742-B6EB-484C-BA00-F1694B063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86784"/>
            <a:ext cx="12344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DF7"/>
                </a:solidFill>
                <a:latin typeface="Calibri"/>
                <a:ea typeface="Calibri"/>
                <a:cs typeface="Calibri"/>
              </a:rPr>
              <a:t>DEFER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03AEF078-818F-4973-B013-F7BA9CDB0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986784"/>
            <a:ext cx="23774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2333A"/>
                </a:solidFill>
                <a:latin typeface="Calibri"/>
                <a:ea typeface="Calibri"/>
                <a:cs typeface="Calibri"/>
              </a:rPr>
              <a:t>RFID / closed-loop cashless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86DBAE14-B8EA-45A0-B174-DAA67F12D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3986784"/>
            <a:ext cx="44805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72126"/>
                </a:solidFill>
                <a:latin typeface="Calibri"/>
                <a:ea typeface="Calibri"/>
                <a:cs typeface="Calibri"/>
              </a:rPr>
              <a:t>Keep QR/open-loop until network and ROI are proven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C00375F7-6420-4CE2-93B2-18B93429F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28032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5747C"/>
                </a:solidFill>
                <a:latin typeface="Calibri"/>
                <a:ea typeface="Calibri"/>
                <a:cs typeface="Calibri"/>
              </a:rPr>
              <a:t>Texas SandFest  ·  Confidential board briefing  ·  July 2026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7111186F-766F-45B3-AE78-F168E32DA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828032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5747C"/>
                </a:solidFill>
                <a:latin typeface="Calibri"/>
                <a:ea typeface="Calibri"/>
                <a:cs typeface="Calibri"/>
              </a:rPr>
              <a:t>3 / 12</a:t>
            </a:r>
          </a:p>
        </p:txBody>
      </p:sp>
    </p:spTree>
    <p:extLst>
      <p:ext uri="{BB962C8B-B14F-4D97-AF65-F5344CB8AC3E}">
        <p14:creationId xmlns:p14="http://schemas.microsoft.com/office/powerpoint/2010/main" val="71882204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C5C180D-6D39-4C94-BAB3-14A34ADC5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5EC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CE37F51-9AAD-40CB-8BDD-07549C3B4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0040"/>
            <a:ext cx="8229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12333A"/>
                </a:solidFill>
                <a:latin typeface="Georgia"/>
                <a:ea typeface="Georgia"/>
                <a:cs typeface="Georgia"/>
              </a:rPr>
              <a:t>One system connects every experience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2E5E979-1805-4A1E-9399-28D087AFF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1828800"/>
            <a:ext cx="3291840" cy="146304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12333A"/>
          </a:solidFill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47C7B6BE-AEB2-48D7-BB58-CAEFF83B2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2148840"/>
            <a:ext cx="301752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DF7"/>
                </a:solidFill>
                <a:latin typeface="Georgia"/>
                <a:ea typeface="Georgia"/>
                <a:cs typeface="Georgia"/>
              </a:rPr>
              <a:t>SandFest Admin API</a:t>
            </a:r>
          </a:p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DF7"/>
                </a:solidFill>
                <a:latin typeface="Georgia"/>
                <a:ea typeface="Georgia"/>
                <a:cs typeface="Georgia"/>
              </a:rPr>
              <a:t>System of record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A5247EFD-9436-4552-8B0F-799FB4EA6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05840"/>
            <a:ext cx="2377440" cy="105156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DF7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FE30812-35E1-429C-8887-72366FD84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170432"/>
            <a:ext cx="2103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6D77"/>
                </a:solidFill>
                <a:latin typeface="Calibri"/>
                <a:ea typeface="Calibri"/>
                <a:cs typeface="Calibri"/>
              </a:rPr>
              <a:t>Visitor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C9790655-4FFC-4F24-9C64-A65465710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508760"/>
            <a:ext cx="21031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72126"/>
                </a:solidFill>
                <a:latin typeface="Calibri"/>
                <a:ea typeface="Calibri"/>
                <a:cs typeface="Calibri"/>
              </a:rPr>
              <a:t>Plan, buy, navigate, ask, vote, and get help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9CE9F651-BC98-42E9-AB25-0B31BA5CC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005840"/>
            <a:ext cx="2377440" cy="105156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DF7"/>
          </a:solidFill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BCA80014-07C9-46D5-8C8B-31E0B47AF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170432"/>
            <a:ext cx="2103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6D77"/>
                </a:solidFill>
                <a:latin typeface="Calibri"/>
                <a:ea typeface="Calibri"/>
                <a:cs typeface="Calibri"/>
              </a:rPr>
              <a:t>Partner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FF549A1-03BF-4DFB-A665-477E5ADD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508760"/>
            <a:ext cx="21031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72126"/>
                </a:solidFill>
                <a:latin typeface="Calibri"/>
                <a:ea typeface="Calibri"/>
                <a:cs typeface="Calibri"/>
              </a:rPr>
              <a:t>Apply, pay, submit proof, and track readiness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27EFD799-A6AB-4F6A-8A99-2C94D7179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566160"/>
            <a:ext cx="2377440" cy="105156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DF7"/>
          </a:solidFill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797E6DC3-41CE-42EE-AFB0-CC947FA54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730752"/>
            <a:ext cx="2103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6D77"/>
                </a:solidFill>
                <a:latin typeface="Calibri"/>
                <a:ea typeface="Calibri"/>
                <a:cs typeface="Calibri"/>
              </a:rPr>
              <a:t>Operations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2D2644BE-E757-432D-8CAB-D948B8D56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069080"/>
            <a:ext cx="21031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72126"/>
                </a:solidFill>
                <a:latin typeface="Calibri"/>
                <a:ea typeface="Calibri"/>
                <a:cs typeface="Calibri"/>
              </a:rPr>
              <a:t>Revenue, budgets, work, documents, incidents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CED193B0-6E5D-4BB8-9EF7-8B17DE75E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566160"/>
            <a:ext cx="2377440" cy="105156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DF7"/>
          </a:solidFill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4723A41E-0782-4582-8117-2043C4198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3730752"/>
            <a:ext cx="2103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6D77"/>
                </a:solidFill>
                <a:latin typeface="Calibri"/>
                <a:ea typeface="Calibri"/>
                <a:cs typeface="Calibri"/>
              </a:rPr>
              <a:t>Field + iOS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F1A1E112-D535-4BEA-82DE-B1D76630A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4069080"/>
            <a:ext cx="21031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72126"/>
                </a:solidFill>
                <a:latin typeface="Calibri"/>
                <a:ea typeface="Calibri"/>
                <a:cs typeface="Calibri"/>
              </a:rPr>
              <a:t>Fleet, QR, coverage, and live command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A62B304B-7E88-4D75-823C-676D8E321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28032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5747C"/>
                </a:solidFill>
                <a:latin typeface="Calibri"/>
                <a:ea typeface="Calibri"/>
                <a:cs typeface="Calibri"/>
              </a:rPr>
              <a:t>Texas SandFest  ·  Confidential board briefing  ·  July 2026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43271293-714B-4EA4-8E47-3C24E4DA3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828032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5747C"/>
                </a:solidFill>
                <a:latin typeface="Calibri"/>
                <a:ea typeface="Calibri"/>
                <a:cs typeface="Calibri"/>
              </a:rPr>
              <a:t>4 / 12</a:t>
            </a:r>
          </a:p>
        </p:txBody>
      </p:sp>
    </p:spTree>
    <p:extLst>
      <p:ext uri="{BB962C8B-B14F-4D97-AF65-F5344CB8AC3E}">
        <p14:creationId xmlns:p14="http://schemas.microsoft.com/office/powerpoint/2010/main" val="32612571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85D8EE4-02FB-4B68-96AA-3435CF07D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5EC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837CEE5-FA38-4832-82F6-A7346CB30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"/>
            <a:ext cx="82296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12333A"/>
                </a:solidFill>
                <a:latin typeface="Georgia"/>
                <a:ea typeface="Georgia"/>
                <a:cs typeface="Georgia"/>
              </a:rPr>
              <a:t>Ten journeys prove the product end to end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17F76F0-D7F1-47D7-A44B-802599639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868680"/>
            <a:ext cx="4160520" cy="777240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FFFDF7"/>
          </a:solidFill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44817B1F-2CCF-49D3-996B-0CF1B2D3A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033272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E85D4A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53554944-A2AE-4CD6-BE6E-74E4FF3F6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978408"/>
            <a:ext cx="329184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2333A"/>
                </a:solidFill>
                <a:latin typeface="Calibri"/>
                <a:ea typeface="Calibri"/>
                <a:cs typeface="Calibri"/>
              </a:rPr>
              <a:t>Certification gate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F00967A-0AE5-44E4-A94C-CDF448B89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1252728"/>
            <a:ext cx="32918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65747C"/>
                </a:solidFill>
                <a:latin typeface="Calibri"/>
                <a:ea typeface="Calibri"/>
                <a:cs typeface="Calibri"/>
              </a:rPr>
              <a:t>10/10 journeys · Chromium 14/14 · WebKit 14/14 · baseline restored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DCCD0083-F88C-4D3E-9D9C-A0F969E19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1737360"/>
            <a:ext cx="4160520" cy="777240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FFFDF7"/>
          </a:solidFill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379E6F64-8096-43F4-B438-5292CD7DC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901952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E85D4A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B4C624A4-DF66-4744-BE28-AA644E204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1847088"/>
            <a:ext cx="329184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2333A"/>
                </a:solidFill>
                <a:latin typeface="Calibri"/>
                <a:ea typeface="Calibri"/>
                <a:cs typeface="Calibri"/>
              </a:rPr>
              <a:t>Visitor + guest services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FF11DD28-611C-48E4-9A21-3416338D9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121408"/>
            <a:ext cx="32918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65747C"/>
                </a:solidFill>
                <a:latin typeface="Calibri"/>
                <a:ea typeface="Calibri"/>
                <a:cs typeface="Calibri"/>
              </a:rPr>
              <a:t>Guidance, Ask Sandy, tickets, voting, and private help cases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F98BA4C5-E1D7-41AA-B77B-C68CF6E14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2606040"/>
            <a:ext cx="4160520" cy="777240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FFFDF7"/>
          </a:solidFill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1229151-9831-46DE-940D-0EE54B504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70632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E85D4A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3C7A5519-4835-4D42-8357-9653182A9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715768"/>
            <a:ext cx="329184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2333A"/>
                </a:solidFill>
                <a:latin typeface="Calibri"/>
                <a:ea typeface="Calibri"/>
                <a:cs typeface="Calibri"/>
              </a:rPr>
              <a:t>Partners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DDFA07B5-0AD7-4E81-9FDA-4A06C4348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990088"/>
            <a:ext cx="32918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65747C"/>
                </a:solidFill>
                <a:latin typeface="Calibri"/>
                <a:ea typeface="Calibri"/>
                <a:cs typeface="Calibri"/>
              </a:rPr>
              <a:t>Sponsor/vendor intake, portal, branding, compliance, booth readiness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252F0448-BE12-450E-8609-B1212D098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3474720"/>
            <a:ext cx="4160520" cy="777240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FFFDF7"/>
          </a:solidFill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687C2ADC-37AC-4CF2-B45A-4F8AE69FB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39312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E85D4A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D7B0639C-C372-4147-A1F2-2E9106ADD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584448"/>
            <a:ext cx="329184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2333A"/>
                </a:solidFill>
                <a:latin typeface="Calibri"/>
                <a:ea typeface="Calibri"/>
                <a:cs typeface="Calibri"/>
              </a:rPr>
              <a:t>Finance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3D9908B0-37BA-41E2-A43A-72A4673A5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858768"/>
            <a:ext cx="32918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65747C"/>
                </a:solidFill>
                <a:latin typeface="Calibri"/>
                <a:ea typeface="Calibri"/>
                <a:cs typeface="Calibri"/>
              </a:rPr>
              <a:t>Tickets, refunds, revenue, receivables, budgets, and exports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CF0F1840-CBFE-45DB-B752-C7B9E66A9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868680"/>
            <a:ext cx="4160520" cy="777240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FFFDF7"/>
          </a:solidFill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8B3DC1E6-35AC-495A-8D4B-5084AA5E6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1033272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E85D4A"/>
                </a:solidFill>
                <a:latin typeface="Georgia"/>
                <a:ea typeface="Georgia"/>
                <a:cs typeface="Georgia"/>
              </a:rPr>
              <a:t>05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3DA74225-2DD6-4BB8-BEB5-C61435561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978408"/>
            <a:ext cx="329184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2333A"/>
                </a:solidFill>
                <a:latin typeface="Calibri"/>
                <a:ea typeface="Calibri"/>
                <a:cs typeface="Calibri"/>
              </a:rPr>
              <a:t>People + work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0007D5C4-D0FC-480D-942B-CA909CB18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1252728"/>
            <a:ext cx="32918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65747C"/>
                </a:solidFill>
                <a:latin typeface="Calibri"/>
                <a:ea typeface="Calibri"/>
                <a:cs typeface="Calibri"/>
              </a:rPr>
              <a:t>Staff, volunteer, and team routing with a private mobile lifecycle</a:t>
            </a:r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D50B9987-B24F-43BF-85B3-6E2503D5C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737360"/>
            <a:ext cx="4160520" cy="777240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FFFDF7"/>
          </a:solidFill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BD3F3FB2-BF94-4EEC-8FF6-3294709F6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1901952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E85D4A"/>
                </a:solidFill>
                <a:latin typeface="Georgia"/>
                <a:ea typeface="Georgia"/>
                <a:cs typeface="Georgia"/>
              </a:rPr>
              <a:t>06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EB145FD2-9639-43DA-9083-5A676FCC4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1847088"/>
            <a:ext cx="329184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2333A"/>
                </a:solidFill>
                <a:latin typeface="Calibri"/>
                <a:ea typeface="Calibri"/>
                <a:cs typeface="Calibri"/>
              </a:rPr>
              <a:t>Outreach</a:t>
            </a: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CB998516-C6A2-4C10-B61A-D0D3F5560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2121408"/>
            <a:ext cx="32918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65747C"/>
                </a:solidFill>
                <a:latin typeface="Calibri"/>
                <a:ea typeface="Calibri"/>
                <a:cs typeface="Calibri"/>
              </a:rPr>
              <a:t>Qualified prospects, invitation conversion, and reviewed automation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7B2D8B5A-4BF8-456B-8F1C-926FD24FE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606040"/>
            <a:ext cx="4160520" cy="777240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FFFDF7"/>
          </a:solidFill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447A191D-A315-41DA-BC25-247EE7E17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2770632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E85D4A"/>
                </a:solidFill>
                <a:latin typeface="Georgia"/>
                <a:ea typeface="Georgia"/>
                <a:cs typeface="Georgia"/>
              </a:rPr>
              <a:t>07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5FA85E9A-6281-42CE-A4C9-0044A6870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2715768"/>
            <a:ext cx="329184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2333A"/>
                </a:solidFill>
                <a:latin typeface="Calibri"/>
                <a:ea typeface="Calibri"/>
                <a:cs typeface="Calibri"/>
              </a:rPr>
              <a:t>Documents</a:t>
            </a:r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8145C109-0107-49B8-9110-B3331FE16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2990088"/>
            <a:ext cx="32918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65747C"/>
                </a:solidFill>
                <a:latin typeface="Calibri"/>
                <a:ea typeface="Calibri"/>
                <a:cs typeface="Calibri"/>
              </a:rPr>
              <a:t>Private intake, extraction, review, audit, and checksum download</a:t>
            </a:r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05956701-C6C1-410F-AB84-BB4477CCB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474720"/>
            <a:ext cx="4160520" cy="777240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FFFDF7"/>
          </a:solidFill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E6AA4F53-BA86-4A07-BE6D-DD08DE149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3639312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E85D4A"/>
                </a:solidFill>
                <a:latin typeface="Georgia"/>
                <a:ea typeface="Georgia"/>
                <a:cs typeface="Georgia"/>
              </a:rPr>
              <a:t>08</a:t>
            </a:r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387FF5BF-AFF2-4092-8E7E-D881523CE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3584448"/>
            <a:ext cx="329184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2333A"/>
                </a:solidFill>
                <a:latin typeface="Calibri"/>
                <a:ea typeface="Calibri"/>
                <a:cs typeface="Calibri"/>
              </a:rPr>
              <a:t>Event-day command</a:t>
            </a:r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4F9F6C44-DB3D-41BA-985E-C56991C04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3858768"/>
            <a:ext cx="32918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65747C"/>
                </a:solidFill>
                <a:latin typeface="Calibri"/>
                <a:ea typeface="Calibri"/>
                <a:cs typeface="Calibri"/>
              </a:rPr>
              <a:t>Synthetic conditions, eight cameras, incidents, dispatch, recovery</a:t>
            </a:r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15A6A8FD-A9CD-49D5-95A5-D94BF2A1A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28032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5747C"/>
                </a:solidFill>
                <a:latin typeface="Calibri"/>
                <a:ea typeface="Calibri"/>
                <a:cs typeface="Calibri"/>
              </a:rPr>
              <a:t>Texas SandFest  ·  Confidential board briefing  ·  July 2026</a:t>
            </a:r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D8ACF0CE-4A79-4925-9ABE-997FE7F75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828032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5747C"/>
                </a:solidFill>
                <a:latin typeface="Calibri"/>
                <a:ea typeface="Calibri"/>
                <a:cs typeface="Calibri"/>
              </a:rPr>
              <a:t>5 / 12</a:t>
            </a:r>
          </a:p>
        </p:txBody>
      </p:sp>
    </p:spTree>
    <p:extLst>
      <p:ext uri="{BB962C8B-B14F-4D97-AF65-F5344CB8AC3E}">
        <p14:creationId xmlns:p14="http://schemas.microsoft.com/office/powerpoint/2010/main" val="200765532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731C1E7-51DF-478B-9A3E-8983FA702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5EC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95D233D-1193-4453-971D-3BB011ACF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0040"/>
            <a:ext cx="82296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12333A"/>
                </a:solidFill>
                <a:latin typeface="Georgia"/>
                <a:ea typeface="Georgia"/>
                <a:cs typeface="Georgia"/>
              </a:rPr>
              <a:t>What we will demonstrate to the board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416EDCA-871A-4E13-9325-CC2E882F4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51560"/>
            <a:ext cx="2743200" cy="32004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DF7"/>
          </a:solidFill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A15670F8-2911-4172-8A8A-0F5C51319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280160"/>
            <a:ext cx="23774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06D77"/>
                </a:solidFill>
                <a:latin typeface="Georgia"/>
                <a:ea typeface="Georgia"/>
                <a:cs typeface="Georgia"/>
              </a:rPr>
              <a:t>Visitor experience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0A5BE597-73A6-4A77-AD06-7506F1BC9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2377440" cy="2011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172126"/>
                </a:solidFill>
                <a:latin typeface="Calibri"/>
                <a:ea typeface="Calibri"/>
                <a:cs typeface="Calibri"/>
              </a:rPr>
              <a:t>Plan Your Visit</a:t>
            </a:r>
          </a:p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172126"/>
                </a:solidFill>
                <a:latin typeface="Calibri"/>
                <a:ea typeface="Calibri"/>
                <a:cs typeface="Calibri"/>
              </a:rPr>
              <a:t>Ask Sandy + tickets</a:t>
            </a:r>
          </a:p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172126"/>
                </a:solidFill>
                <a:latin typeface="Calibri"/>
                <a:ea typeface="Calibri"/>
                <a:cs typeface="Calibri"/>
              </a:rPr>
              <a:t>Map, passport, and voting</a:t>
            </a:r>
          </a:p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172126"/>
                </a:solidFill>
                <a:latin typeface="Calibri"/>
                <a:ea typeface="Calibri"/>
                <a:cs typeface="Calibri"/>
              </a:rPr>
              <a:t>Guest Services follow-through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FE55EC8A-1D55-43F3-A6FE-C9C419B8D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560" y="1051560"/>
            <a:ext cx="2743200" cy="32004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2333A"/>
          </a:solidFill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03F60F38-922C-41CA-897E-571EA4A48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1280160"/>
            <a:ext cx="23774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4DFAC"/>
                </a:solidFill>
                <a:latin typeface="Georgia"/>
                <a:ea typeface="Georgia"/>
                <a:cs typeface="Georgia"/>
              </a:rPr>
              <a:t>Operations command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71C3F72C-31F8-4153-B43A-761DAEF73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1874520"/>
            <a:ext cx="2377440" cy="2011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FFFDF7"/>
                </a:solidFill>
                <a:latin typeface="Calibri"/>
                <a:ea typeface="Calibri"/>
                <a:cs typeface="Calibri"/>
              </a:rPr>
              <a:t>Revenue + budget</a:t>
            </a:r>
          </a:p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FFFDF7"/>
                </a:solidFill>
                <a:latin typeface="Calibri"/>
                <a:ea typeface="Calibri"/>
                <a:cs typeface="Calibri"/>
              </a:rPr>
              <a:t>Partner readiness</a:t>
            </a:r>
          </a:p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FFFDF7"/>
                </a:solidFill>
                <a:latin typeface="Calibri"/>
                <a:ea typeface="Calibri"/>
                <a:cs typeface="Calibri"/>
              </a:rPr>
              <a:t>Delegated work + documents</a:t>
            </a:r>
          </a:p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FFFDF7"/>
                </a:solidFill>
                <a:latin typeface="Calibri"/>
                <a:ea typeface="Calibri"/>
                <a:cs typeface="Calibri"/>
              </a:rPr>
              <a:t>Incidents + communications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D6FD8268-1912-4617-9F6C-5B7337BF9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051560"/>
            <a:ext cx="2743200" cy="32004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DF7"/>
          </a:solidFill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4BD1745B-A0BF-4132-9F96-D9A79DE33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280160"/>
            <a:ext cx="23774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06D77"/>
                </a:solidFill>
                <a:latin typeface="Georgia"/>
                <a:ea typeface="Georgia"/>
                <a:cs typeface="Georgia"/>
              </a:rPr>
              <a:t>Partner + field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6EEBDD8C-8A0A-4D27-9ACB-F6F2FF07D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874520"/>
            <a:ext cx="2377440" cy="2011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172126"/>
                </a:solidFill>
                <a:latin typeface="Calibri"/>
                <a:ea typeface="Calibri"/>
                <a:cs typeface="Calibri"/>
              </a:rPr>
              <a:t>Sponsor/vendor portals</a:t>
            </a:r>
          </a:p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172126"/>
                </a:solidFill>
                <a:latin typeface="Calibri"/>
                <a:ea typeface="Calibri"/>
                <a:cs typeface="Calibri"/>
              </a:rPr>
              <a:t>Payments + proof</a:t>
            </a:r>
          </a:p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172126"/>
                </a:solidFill>
                <a:latin typeface="Calibri"/>
                <a:ea typeface="Calibri"/>
                <a:cs typeface="Calibri"/>
              </a:rPr>
              <a:t>Volunteer/fleet handoff</a:t>
            </a:r>
          </a:p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172126"/>
                </a:solidFill>
                <a:latin typeface="Calibri"/>
                <a:ea typeface="Calibri"/>
                <a:cs typeface="Calibri"/>
              </a:rPr>
              <a:t>iOS visitor + admin modes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03921FF4-685E-4728-8E4E-E68D7BADE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28032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5747C"/>
                </a:solidFill>
                <a:latin typeface="Calibri"/>
                <a:ea typeface="Calibri"/>
                <a:cs typeface="Calibri"/>
              </a:rPr>
              <a:t>Texas SandFest  ·  Confidential board briefing  ·  July 2026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3DD6F3AA-8498-4B27-BEF9-9ED202729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828032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5747C"/>
                </a:solidFill>
                <a:latin typeface="Calibri"/>
                <a:ea typeface="Calibri"/>
                <a:cs typeface="Calibri"/>
              </a:rPr>
              <a:t>6 / 12</a:t>
            </a:r>
          </a:p>
        </p:txBody>
      </p:sp>
    </p:spTree>
    <p:extLst>
      <p:ext uri="{BB962C8B-B14F-4D97-AF65-F5344CB8AC3E}">
        <p14:creationId xmlns:p14="http://schemas.microsoft.com/office/powerpoint/2010/main" val="1628282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24A5E4A-12A8-462E-BDB4-7EFCA621A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5EC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9DC023A-A72B-4EEC-A818-9D77B98FC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"/>
            <a:ext cx="82296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2333A"/>
                </a:solidFill>
                <a:latin typeface="Georgia"/>
                <a:ea typeface="Georgia"/>
                <a:cs typeface="Georgia"/>
              </a:rPr>
              <a:t>What is certified now—and what stays gated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CE32BFA-DFF4-425E-BDAF-40073A0E8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822960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7819A3DE-64F2-46AC-B5D5-C48A1C94B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53035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172126"/>
                </a:solidFill>
                <a:latin typeface="Calibri"/>
                <a:ea typeface="Calibri"/>
                <a:cs typeface="Calibri"/>
              </a:rPr>
              <a:t>Board presentation stack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E4B10585-FB2E-4DF9-BBE9-795AF5788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868680"/>
            <a:ext cx="25603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 b="1">
                <a:solidFill>
                  <a:srgbClr val="006D77"/>
                </a:solidFill>
                <a:latin typeface="Calibri"/>
                <a:ea typeface="Calibri"/>
                <a:cs typeface="Calibri"/>
              </a:rPr>
              <a:t>Certified now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E638FE80-2539-4927-A02B-F767BE7CF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25880"/>
            <a:ext cx="822960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E0"/>
          </a:solidFill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87185498-F87C-4D14-8B0F-9831C2990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325880"/>
            <a:ext cx="53035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172126"/>
                </a:solidFill>
                <a:latin typeface="Calibri"/>
                <a:ea typeface="Calibri"/>
                <a:cs typeface="Calibri"/>
              </a:rPr>
              <a:t>Synthetic provider safeguards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8EEEC8BC-0FF4-421C-A302-1E4C3AB52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325880"/>
            <a:ext cx="25603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 b="1">
                <a:solidFill>
                  <a:srgbClr val="006D77"/>
                </a:solidFill>
                <a:latin typeface="Calibri"/>
                <a:ea typeface="Calibri"/>
                <a:cs typeface="Calibri"/>
              </a:rPr>
              <a:t>Board-safe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918EE54C-AB2E-47D6-BECB-BEA309389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83080"/>
            <a:ext cx="822960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587F9E34-4159-4A1F-BFB4-3A4C31529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83080"/>
            <a:ext cx="53035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172126"/>
                </a:solidFill>
                <a:latin typeface="Calibri"/>
                <a:ea typeface="Calibri"/>
                <a:cs typeface="Calibri"/>
              </a:rPr>
              <a:t>Payments + accounting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51EBE1B3-9A5C-4209-B9F9-6B878124B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783080"/>
            <a:ext cx="25603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 b="1">
                <a:solidFill>
                  <a:srgbClr val="006D77"/>
                </a:solidFill>
                <a:latin typeface="Calibri"/>
                <a:ea typeface="Calibri"/>
                <a:cs typeface="Calibri"/>
              </a:rPr>
              <a:t>Post-board gate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77C74597-1B03-4220-87C8-3E66ACF36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40280"/>
            <a:ext cx="822960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E0"/>
          </a:solidFill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71766966-FB73-4888-B55E-EBD7BBA54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240280"/>
            <a:ext cx="53035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172126"/>
                </a:solidFill>
                <a:latin typeface="Calibri"/>
                <a:ea typeface="Calibri"/>
                <a:cs typeface="Calibri"/>
              </a:rPr>
              <a:t>Communications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A98D9E0E-2BBE-4347-8541-07061A2B2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240280"/>
            <a:ext cx="25603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 b="1">
                <a:solidFill>
                  <a:srgbClr val="006D77"/>
                </a:solidFill>
                <a:latin typeface="Calibri"/>
                <a:ea typeface="Calibri"/>
                <a:cs typeface="Calibri"/>
              </a:rPr>
              <a:t>Post-board gate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2EFB3356-DA1F-437D-94B3-FAC33F3A1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97480"/>
            <a:ext cx="822960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54FCB50A-CFC6-4B2F-AE1D-575D8D186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97480"/>
            <a:ext cx="53035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172126"/>
                </a:solidFill>
                <a:latin typeface="Calibri"/>
                <a:ea typeface="Calibri"/>
                <a:cs typeface="Calibri"/>
              </a:rPr>
              <a:t>Public protection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BBF37857-E8E3-43B8-B51E-74F4769D3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697480"/>
            <a:ext cx="25603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 b="1">
                <a:solidFill>
                  <a:srgbClr val="006D77"/>
                </a:solidFill>
                <a:latin typeface="Calibri"/>
                <a:ea typeface="Calibri"/>
                <a:cs typeface="Calibri"/>
              </a:rPr>
              <a:t>Post-board gate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EA8EEDB6-35D2-4EF1-9274-782F6D45B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154680"/>
            <a:ext cx="822960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E0"/>
          </a:solidFill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5E6B92EF-A674-4664-B885-729149C1F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154680"/>
            <a:ext cx="53035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172126"/>
                </a:solidFill>
                <a:latin typeface="Calibri"/>
                <a:ea typeface="Calibri"/>
                <a:cs typeface="Calibri"/>
              </a:rPr>
              <a:t>Native distribution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1B30CB47-9A7B-452A-939C-D3E0383FF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154680"/>
            <a:ext cx="25603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 b="1">
                <a:solidFill>
                  <a:srgbClr val="006D77"/>
                </a:solidFill>
                <a:latin typeface="Calibri"/>
                <a:ea typeface="Calibri"/>
                <a:cs typeface="Calibri"/>
              </a:rPr>
              <a:t>Account-owned gate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F368EADA-E99D-4442-B054-30B985465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1880"/>
            <a:ext cx="822960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6D3B377D-148D-4217-82EE-41EF7834D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611880"/>
            <a:ext cx="53035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172126"/>
                </a:solidFill>
                <a:latin typeface="Calibri"/>
                <a:ea typeface="Calibri"/>
                <a:cs typeface="Calibri"/>
              </a:rPr>
              <a:t>Recovery + public cutover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08E3419F-4EA1-431D-BD3F-71AA8B64A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611880"/>
            <a:ext cx="25603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 b="1">
                <a:solidFill>
                  <a:srgbClr val="006D77"/>
                </a:solidFill>
                <a:latin typeface="Calibri"/>
                <a:ea typeface="Calibri"/>
                <a:cs typeface="Calibri"/>
              </a:rPr>
              <a:t>Release gate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F3D44805-E1AB-4C1E-B4F8-A79C736C9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28032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5747C"/>
                </a:solidFill>
                <a:latin typeface="Calibri"/>
                <a:ea typeface="Calibri"/>
                <a:cs typeface="Calibri"/>
              </a:rPr>
              <a:t>Texas SandFest  ·  Confidential board briefing  ·  July 2026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ABA2C012-CC95-491A-9EFA-32F389CD2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828032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5747C"/>
                </a:solidFill>
                <a:latin typeface="Calibri"/>
                <a:ea typeface="Calibri"/>
                <a:cs typeface="Calibri"/>
              </a:rPr>
              <a:t>7 / 12</a:t>
            </a:r>
          </a:p>
        </p:txBody>
      </p:sp>
    </p:spTree>
    <p:extLst>
      <p:ext uri="{BB962C8B-B14F-4D97-AF65-F5344CB8AC3E}">
        <p14:creationId xmlns:p14="http://schemas.microsoft.com/office/powerpoint/2010/main" val="22242046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97564C5B-78AD-4E42-8042-17C954076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5EC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B8B3B89-2CB9-4238-87D4-34CC71073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"/>
            <a:ext cx="82296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12333A"/>
                </a:solidFill>
                <a:latin typeface="Georgia"/>
                <a:ea typeface="Georgia"/>
                <a:cs typeface="Georgia"/>
              </a:rPr>
              <a:t>Certified demo to controlled production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2C8A5F9-A3E1-4AFE-A8CC-44FDE355A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2743200" cy="338328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FFDF7"/>
          </a:solidFill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DEE06D78-1EE0-4A79-A0C9-EF3B783E6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274320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D77"/>
          </a:solidFill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DD8D92D2-12E0-4B6B-B52B-1C1BD317C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051560"/>
            <a:ext cx="2468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DF7"/>
                </a:solidFill>
                <a:latin typeface="Calibri"/>
                <a:ea typeface="Calibri"/>
                <a:cs typeface="Calibri"/>
              </a:rPr>
              <a:t>Board-ready now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4DF57E2A-E0EE-45AF-B131-28F939537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91640"/>
            <a:ext cx="2377440" cy="2377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172126"/>
                </a:solidFill>
                <a:latin typeface="Calibri"/>
                <a:ea typeface="Calibri"/>
                <a:cs typeface="Calibri"/>
              </a:rPr>
              <a:t>10-journey certificate ✓</a:t>
            </a:r>
          </a:p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172126"/>
                </a:solidFill>
                <a:latin typeface="Calibri"/>
                <a:ea typeface="Calibri"/>
                <a:cs typeface="Calibri"/>
              </a:rPr>
              <a:t>Visitor + Operations ✓</a:t>
            </a:r>
          </a:p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172126"/>
                </a:solidFill>
                <a:latin typeface="Calibri"/>
                <a:ea typeface="Calibri"/>
                <a:cs typeface="Calibri"/>
              </a:rPr>
              <a:t>Partner handoffs ✓</a:t>
            </a:r>
          </a:p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172126"/>
                </a:solidFill>
                <a:latin typeface="Calibri"/>
                <a:ea typeface="Calibri"/>
                <a:cs typeface="Calibri"/>
              </a:rPr>
              <a:t>Documents + incidents ✓</a:t>
            </a:r>
          </a:p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172126"/>
                </a:solidFill>
                <a:latin typeface="Calibri"/>
                <a:ea typeface="Calibri"/>
                <a:cs typeface="Calibri"/>
              </a:rPr>
              <a:t>Synthetic providers ✓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36E52440-7243-4DFE-9DB4-05CDDE831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560" y="960120"/>
            <a:ext cx="2743200" cy="338328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FFDF7"/>
          </a:solidFill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9E718674-D0B3-4E99-8E51-FD80CB02D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560" y="960120"/>
            <a:ext cx="274320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33A"/>
          </a:solidFill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4DB82ED1-BBBF-48A1-A50E-D107FF0E4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1051560"/>
            <a:ext cx="2468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DF7"/>
                </a:solidFill>
                <a:latin typeface="Calibri"/>
                <a:ea typeface="Calibri"/>
                <a:cs typeface="Calibri"/>
              </a:rPr>
              <a:t>Post-board activation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A97866A1-98AA-4007-A978-74F9E5F49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1691640"/>
            <a:ext cx="2377440" cy="2377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172126"/>
                </a:solidFill>
                <a:latin typeface="Calibri"/>
                <a:ea typeface="Calibri"/>
                <a:cs typeface="Calibri"/>
              </a:rPr>
              <a:t>Managed data plane</a:t>
            </a:r>
          </a:p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172126"/>
                </a:solidFill>
                <a:latin typeface="Calibri"/>
                <a:ea typeface="Calibri"/>
                <a:cs typeface="Calibri"/>
              </a:rPr>
              <a:t>OIDC + Turnstile</a:t>
            </a:r>
          </a:p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172126"/>
                </a:solidFill>
                <a:latin typeface="Calibri"/>
                <a:ea typeface="Calibri"/>
                <a:cs typeface="Calibri"/>
              </a:rPr>
              <a:t>Stripe / QB / Brevo / Twilio</a:t>
            </a:r>
          </a:p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172126"/>
                </a:solidFill>
                <a:latin typeface="Calibri"/>
                <a:ea typeface="Calibri"/>
                <a:cs typeface="Calibri"/>
              </a:rPr>
              <a:t>Domain + Apple signing</a:t>
            </a:r>
          </a:p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172126"/>
                </a:solidFill>
                <a:latin typeface="Calibri"/>
                <a:ea typeface="Calibri"/>
                <a:cs typeface="Calibri"/>
              </a:rPr>
              <a:t>Provider acceptance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BAF6724D-BA92-48ED-B3F8-329C77FF7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960120"/>
            <a:ext cx="2743200" cy="338328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FFDF7"/>
          </a:solidFill>
        </p:spPr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B7B35330-1D78-4702-A6E6-6B19F092F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960120"/>
            <a:ext cx="274320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D4A"/>
          </a:solidFill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584718D2-40F4-4159-BCB3-E0094E3DF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051560"/>
            <a:ext cx="2468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DF7"/>
                </a:solidFill>
                <a:latin typeface="Calibri"/>
                <a:ea typeface="Calibri"/>
                <a:cs typeface="Calibri"/>
              </a:rPr>
              <a:t>Operational cutover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D95EDBCD-90DE-4BDF-9887-DB639D7EE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691640"/>
            <a:ext cx="2377440" cy="2377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172126"/>
                </a:solidFill>
                <a:latin typeface="Calibri"/>
                <a:ea typeface="Calibri"/>
                <a:cs typeface="Calibri"/>
              </a:rPr>
              <a:t>Approved 2027 content</a:t>
            </a:r>
          </a:p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172126"/>
                </a:solidFill>
                <a:latin typeface="Calibri"/>
                <a:ea typeface="Calibri"/>
                <a:cs typeface="Calibri"/>
              </a:rPr>
              <a:t>Real roster/vendor imports</a:t>
            </a:r>
          </a:p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172126"/>
                </a:solidFill>
                <a:latin typeface="Calibri"/>
                <a:ea typeface="Calibri"/>
                <a:cs typeface="Calibri"/>
              </a:rPr>
              <a:t>Staff training + runbook</a:t>
            </a:r>
          </a:p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172126"/>
                </a:solidFill>
                <a:latin typeface="Calibri"/>
                <a:ea typeface="Calibri"/>
                <a:cs typeface="Calibri"/>
              </a:rPr>
              <a:t>Recovery drill</a:t>
            </a:r>
          </a:p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172126"/>
                </a:solidFill>
                <a:latin typeface="Calibri"/>
                <a:ea typeface="Calibri"/>
                <a:cs typeface="Calibri"/>
              </a:rPr>
              <a:t>Live cameras when approved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1918C2CA-6B95-4161-853E-5F653672A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28032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5747C"/>
                </a:solidFill>
                <a:latin typeface="Calibri"/>
                <a:ea typeface="Calibri"/>
                <a:cs typeface="Calibri"/>
              </a:rPr>
              <a:t>Texas SandFest  ·  Confidential board briefing  ·  July 2026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9A02C814-4A09-401E-BC82-3F6305FD4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828032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5747C"/>
                </a:solidFill>
                <a:latin typeface="Calibri"/>
                <a:ea typeface="Calibri"/>
                <a:cs typeface="Calibri"/>
              </a:rPr>
              <a:t>8 / 12</a:t>
            </a:r>
          </a:p>
        </p:txBody>
      </p:sp>
    </p:spTree>
    <p:extLst>
      <p:ext uri="{BB962C8B-B14F-4D97-AF65-F5344CB8AC3E}">
        <p14:creationId xmlns:p14="http://schemas.microsoft.com/office/powerpoint/2010/main" val="5319478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4D023E9-AF8E-4749-B802-B54CA8D16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5EC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F34A91B-AB80-47E0-BAFE-216B75E43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"/>
            <a:ext cx="82296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12333A"/>
                </a:solidFill>
                <a:latin typeface="Georgia"/>
                <a:ea typeface="Georgia"/>
                <a:cs typeface="Georgia"/>
              </a:rPr>
              <a:t>Board decisions that unlock the next stage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F622376-EE5F-499E-BE14-C35844723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77240"/>
            <a:ext cx="82296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i="1">
                <a:solidFill>
                  <a:srgbClr val="65747C"/>
                </a:solidFill>
                <a:latin typeface="Calibri"/>
                <a:ea typeface="Calibri"/>
                <a:cs typeface="Calibri"/>
              </a:rPr>
              <a:t>Accounts and source documents remain with SandFest; activation proceeds one capability at a time.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A2796988-B3EA-476A-88BF-B4FC82C71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4440"/>
            <a:ext cx="4114800" cy="658368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7"/>
          </a:solidFill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9F61F98-FF63-48FF-96E3-D2F3BABF9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417320"/>
            <a:ext cx="292608" cy="2926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5D4A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3AAA0288-451E-4A92-AB5B-977439406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325880"/>
            <a:ext cx="33832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2333A"/>
                </a:solidFill>
                <a:latin typeface="Calibri"/>
                <a:ea typeface="Calibri"/>
                <a:cs typeface="Calibri"/>
              </a:rPr>
              <a:t>Account owners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FAF0F086-16BE-43B7-8F13-23B98B853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581912"/>
            <a:ext cx="3383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65747C"/>
                </a:solidFill>
                <a:latin typeface="Calibri"/>
                <a:ea typeface="Calibri"/>
                <a:cs typeface="Calibri"/>
              </a:rPr>
              <a:t>Providers, Apple, domain, and recovery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83DB955C-FC73-45D4-88B0-E7CEB234D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11680"/>
            <a:ext cx="4114800" cy="658368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7"/>
          </a:solidFill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EF7D2C22-8FCD-4237-A4AB-CEA71A2FF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194560"/>
            <a:ext cx="292608" cy="2926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5D4A"/>
          </a:solidFill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2B6D64C3-7478-457F-9CF7-57832327D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103120"/>
            <a:ext cx="33832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2333A"/>
                </a:solidFill>
                <a:latin typeface="Calibri"/>
                <a:ea typeface="Calibri"/>
                <a:cs typeface="Calibri"/>
              </a:rPr>
              <a:t>Deployment approval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6DAFE6DE-B58F-4CB0-96C7-E588AF48D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359152"/>
            <a:ext cx="3383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65747C"/>
                </a:solidFill>
                <a:latin typeface="Calibri"/>
                <a:ea typeface="Calibri"/>
                <a:cs typeface="Calibri"/>
              </a:rPr>
              <a:t>Managed API, Postgres, and private storage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C5D71030-C5D5-49BC-B7F6-6CC796AE9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88920"/>
            <a:ext cx="4114800" cy="658368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7"/>
          </a:solidFill>
        </p:spPr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0CCB3B16-C0AA-4B7F-9708-B266F08E0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971800"/>
            <a:ext cx="292608" cy="2926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5D4A"/>
          </a:solidFill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5E6981DD-E352-4012-8F17-FD9708A33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880360"/>
            <a:ext cx="33832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2333A"/>
                </a:solidFill>
                <a:latin typeface="Calibri"/>
                <a:ea typeface="Calibri"/>
                <a:cs typeface="Calibri"/>
              </a:rPr>
              <a:t>Production identity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BAEA8718-5303-44BC-A7D4-9C5F79A59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136392"/>
            <a:ext cx="3383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65747C"/>
                </a:solidFill>
                <a:latin typeface="Calibri"/>
                <a:ea typeface="Calibri"/>
                <a:cs typeface="Calibri"/>
              </a:rPr>
              <a:t>OIDC tenant, admin roles, and recovery owner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42803E9C-C052-4E63-8C19-DC451A90D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566160"/>
            <a:ext cx="4114800" cy="658368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7"/>
          </a:solidFill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762DCCA7-20D8-4618-9516-C4ADE87C9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749040"/>
            <a:ext cx="292608" cy="2926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5D4A"/>
          </a:solidFill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6DF4CE31-7CB0-46A8-A866-9072CBE7E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657600"/>
            <a:ext cx="33832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2333A"/>
                </a:solidFill>
                <a:latin typeface="Calibri"/>
                <a:ea typeface="Calibri"/>
                <a:cs typeface="Calibri"/>
              </a:rPr>
              <a:t>Public protection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1497D461-FAB0-40D8-8952-FBBA2AF7C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913632"/>
            <a:ext cx="3383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65747C"/>
                </a:solidFill>
                <a:latin typeface="Calibri"/>
                <a:ea typeface="Calibri"/>
                <a:cs typeface="Calibri"/>
              </a:rPr>
              <a:t>Turnstile, production origins, and callbacks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584BF252-6FB9-40B5-BAD6-19B74E62D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234440"/>
            <a:ext cx="4114800" cy="658368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7"/>
          </a:solidFill>
        </p:spPr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83A01D49-9A8D-4AB6-923B-1BCE33584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1417320"/>
            <a:ext cx="292608" cy="2926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5D4A"/>
          </a:solidFill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5C01C189-DF62-4C6F-8EFC-B2CE4394A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240" y="1325880"/>
            <a:ext cx="33832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2333A"/>
                </a:solidFill>
                <a:latin typeface="Calibri"/>
                <a:ea typeface="Calibri"/>
                <a:cs typeface="Calibri"/>
              </a:rPr>
              <a:t>Authoritative documents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9F273508-A93D-4C74-84C3-EFEF6CD9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240" y="1581912"/>
            <a:ext cx="3383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65747C"/>
                </a:solidFill>
                <a:latin typeface="Calibri"/>
                <a:ea typeface="Calibri"/>
                <a:cs typeface="Calibri"/>
              </a:rPr>
              <a:t>Sponsor, vendor, budget, map, and permit sources</a:t>
            </a: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F9B95DEB-6193-4C80-AAC6-5BABE12BF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011680"/>
            <a:ext cx="4114800" cy="658368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7"/>
          </a:solidFill>
        </p:spPr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874EE364-5A25-44E4-8C50-F294D087E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2194560"/>
            <a:ext cx="292608" cy="2926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5D4A"/>
          </a:solidFill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46D9088D-8EC2-43C4-A65F-048F98DC6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240" y="2103120"/>
            <a:ext cx="33832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2333A"/>
                </a:solidFill>
                <a:latin typeface="Calibri"/>
                <a:ea typeface="Calibri"/>
                <a:cs typeface="Calibri"/>
              </a:rPr>
              <a:t>Content approval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D1C58F15-819A-4804-B64C-84A9960A0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240" y="2359152"/>
            <a:ext cx="3383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65747C"/>
                </a:solidFill>
                <a:latin typeface="Calibri"/>
                <a:ea typeface="Calibri"/>
                <a:cs typeface="Calibri"/>
              </a:rPr>
              <a:t>2027 facts, policies, guidance, roster, schedule</a:t>
            </a:r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6FF487B2-40A1-46B1-8CDA-93FBED505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788920"/>
            <a:ext cx="4114800" cy="658368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7"/>
          </a:solidFill>
        </p:spPr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BA782929-1F00-4D6B-92EC-0706B03FE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2971800"/>
            <a:ext cx="292608" cy="2926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5D4A"/>
          </a:solidFill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B32297F8-61B1-48F4-8DBC-7BDD8000A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240" y="2880360"/>
            <a:ext cx="33832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2333A"/>
                </a:solidFill>
                <a:latin typeface="Calibri"/>
                <a:ea typeface="Calibri"/>
                <a:cs typeface="Calibri"/>
              </a:rPr>
              <a:t>Native release</a:t>
            </a:r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F71F7E39-C9DA-4F55-A95C-E2095A89F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240" y="3136392"/>
            <a:ext cx="3383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65747C"/>
                </a:solidFill>
                <a:latin typeface="Calibri"/>
                <a:ea typeface="Calibri"/>
                <a:cs typeface="Calibri"/>
              </a:rPr>
              <a:t>Apple agreement, prefix, profile, and AASA</a:t>
            </a:r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9F1399E6-ADEC-472A-A382-E699406C9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566160"/>
            <a:ext cx="4114800" cy="658368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7"/>
          </a:solidFill>
        </p:spPr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5A442D23-C555-480F-A050-E46C54154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3749040"/>
            <a:ext cx="292608" cy="2926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5D4A"/>
          </a:solidFill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2E081ACD-2FDB-44FF-A4DD-1F4DEC526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240" y="3657600"/>
            <a:ext cx="33832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2333A"/>
                </a:solidFill>
                <a:latin typeface="Calibri"/>
                <a:ea typeface="Calibri"/>
                <a:cs typeface="Calibri"/>
              </a:rPr>
              <a:t>Event resilience</a:t>
            </a:r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549C3B27-D5B8-4FDB-A801-24207E853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240" y="3913632"/>
            <a:ext cx="3383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65747C"/>
                </a:solidFill>
                <a:latin typeface="Calibri"/>
                <a:ea typeface="Calibri"/>
                <a:cs typeface="Calibri"/>
              </a:rPr>
              <a:t>Connectivity, cameras, and safety sign-off</a:t>
            </a:r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C3E2F8E4-24EE-47C4-B860-6B3DB6C6E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28032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5747C"/>
                </a:solidFill>
                <a:latin typeface="Calibri"/>
                <a:ea typeface="Calibri"/>
                <a:cs typeface="Calibri"/>
              </a:rPr>
              <a:t>Texas SandFest  ·  Confidential board briefing  ·  July 2026</a:t>
            </a:r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9DF96E6C-7E4D-463C-BCE5-B18CA8E37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828032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5747C"/>
                </a:solidFill>
                <a:latin typeface="Calibri"/>
                <a:ea typeface="Calibri"/>
                <a:cs typeface="Calibri"/>
              </a:rPr>
              <a:t>9 / 12</a:t>
            </a:r>
          </a:p>
        </p:txBody>
      </p:sp>
    </p:spTree>
    <p:extLst>
      <p:ext uri="{BB962C8B-B14F-4D97-AF65-F5344CB8AC3E}">
        <p14:creationId xmlns:p14="http://schemas.microsoft.com/office/powerpoint/2010/main" val="9295592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F161279-0BC1-441D-B095-B0BF48FAB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5EC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85C19BD-05C5-4A53-9727-AF1BD912B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0040"/>
            <a:ext cx="82296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12333A"/>
                </a:solidFill>
                <a:latin typeface="Georgia"/>
                <a:ea typeface="Georgia"/>
                <a:cs typeface="Georgia"/>
              </a:rPr>
              <a:t>Explicit gates control the remaining risk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400A782-C5E9-45F3-B75D-F286F34F0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8229600" cy="777240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FFFDF7"/>
          </a:solidFill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D1C42176-07CC-4E14-9C0F-709A4817B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28016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D77"/>
          </a:solidFill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170C379-00EB-4A07-8C52-5D556EBA2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069848"/>
            <a:ext cx="7589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2333A"/>
                </a:solidFill>
                <a:latin typeface="Calibri"/>
                <a:ea typeface="Calibri"/>
                <a:cs typeface="Calibri"/>
              </a:rPr>
              <a:t>Live-provider exposure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394CE522-F774-48AE-B5E3-FDB60E0BE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344168"/>
            <a:ext cx="75895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172126"/>
                </a:solidFill>
                <a:latin typeface="Calibri"/>
                <a:ea typeface="Calibri"/>
                <a:cs typeface="Calibri"/>
              </a:rPr>
              <a:t>Every integration stays disabled until credentials, callbacks, origins, and acceptance evidence are complete.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E47DD201-6CAB-4D56-947A-81C7485BA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28800"/>
            <a:ext cx="8229600" cy="777240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FFFDF7"/>
          </a:solidFill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1BD74178-1FD0-4D77-A460-B73155BDA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28800"/>
            <a:ext cx="128016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D4A"/>
          </a:solidFill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F927DE5F-C5B3-483D-B95F-36341B290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938528"/>
            <a:ext cx="7589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2333A"/>
                </a:solidFill>
                <a:latin typeface="Calibri"/>
                <a:ea typeface="Calibri"/>
                <a:cs typeface="Calibri"/>
              </a:rPr>
              <a:t>Data + privacy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337786C3-FA08-499F-B091-99B50233D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212848"/>
            <a:ext cx="75895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172126"/>
                </a:solidFill>
                <a:latin typeface="Calibri"/>
                <a:ea typeface="Calibri"/>
                <a:cs typeface="Calibri"/>
              </a:rPr>
              <a:t>Public APIs expose approved fields only; private files, contacts, tokens, and review notes stay governed.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D02339EA-BE60-497B-8B28-0E62BD214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97480"/>
            <a:ext cx="8229600" cy="777240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FFFDF7"/>
          </a:solidFill>
        </p:spPr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A5A9A0F3-8427-473D-9712-9320D2FCE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97480"/>
            <a:ext cx="128016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D77"/>
          </a:solidFill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EC6E19CC-163A-4311-9F74-8B6FD2A30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807208"/>
            <a:ext cx="7589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2333A"/>
                </a:solidFill>
                <a:latin typeface="Calibri"/>
                <a:ea typeface="Calibri"/>
                <a:cs typeface="Calibri"/>
              </a:rPr>
              <a:t>Event-day resilience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E8A51430-807B-492C-A564-94C9C4FAF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081528"/>
            <a:ext cx="75895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172126"/>
                </a:solidFill>
                <a:latin typeface="Calibri"/>
                <a:ea typeface="Calibri"/>
                <a:cs typeface="Calibri"/>
              </a:rPr>
              <a:t>Offline-safe visitor experiences and a supervised stack protect the demo; recovery drills gate production.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727234E9-0CB3-4804-BD5F-2FBCB4BE0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566160"/>
            <a:ext cx="8229600" cy="777240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FFFDF7"/>
          </a:solidFill>
        </p:spPr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68B27145-4F98-4A16-B8F4-9D18BC3DD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566160"/>
            <a:ext cx="128016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D77"/>
          </a:solidFill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7E6B099D-31D6-4B84-9046-AC151F2C2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675888"/>
            <a:ext cx="7589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2333A"/>
                </a:solidFill>
                <a:latin typeface="Calibri"/>
                <a:ea typeface="Calibri"/>
                <a:cs typeface="Calibri"/>
              </a:rPr>
              <a:t>Change control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5637834D-496B-48D3-8D93-6821ED0C0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950208"/>
            <a:ext cx="75895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172126"/>
                </a:solidFill>
                <a:latin typeface="Calibri"/>
                <a:ea typeface="Calibri"/>
                <a:cs typeface="Calibri"/>
              </a:rPr>
              <a:t>Source drift, dirty code, stale certificates, or incomplete baseline restoration block presentation and release.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13D90793-1868-4AFF-9684-6B04FAEF3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28032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5747C"/>
                </a:solidFill>
                <a:latin typeface="Calibri"/>
                <a:ea typeface="Calibri"/>
                <a:cs typeface="Calibri"/>
              </a:rPr>
              <a:t>Texas SandFest  ·  Confidential board briefing  ·  July 2026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2A85380C-5BED-4020-A7FD-A39430781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828032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5747C"/>
                </a:solidFill>
                <a:latin typeface="Calibri"/>
                <a:ea typeface="Calibri"/>
                <a:cs typeface="Calibri"/>
              </a:rPr>
              <a:t>10 / 12</a:t>
            </a:r>
          </a:p>
        </p:txBody>
      </p:sp>
    </p:spTree>
    <p:extLst>
      <p:ext uri="{BB962C8B-B14F-4D97-AF65-F5344CB8AC3E}">
        <p14:creationId xmlns:p14="http://schemas.microsoft.com/office/powerpoint/2010/main" val="220724246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085A43CF-3BD4-4484-92C0-18D814A76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5EC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7B95FFB-1EAF-4398-A253-BE2D0224A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0040"/>
            <a:ext cx="82296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12333A"/>
                </a:solidFill>
                <a:latin typeface="Georgia"/>
                <a:ea typeface="Georgia"/>
                <a:cs typeface="Georgia"/>
              </a:rPr>
              <a:t>Five board decisions move the product forward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27BF154-FB17-4DC6-A263-8D073E4F3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033272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D77"/>
          </a:solidFill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D6ABCD4F-1CA4-486A-940E-D9E43117E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033272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DF7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BA32B50F-CC4A-4822-91F8-B3C53352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960120"/>
            <a:ext cx="74980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172126"/>
                </a:solidFill>
                <a:latin typeface="Calibri"/>
                <a:ea typeface="Calibri"/>
                <a:cs typeface="Calibri"/>
              </a:rPr>
              <a:t>Endorse SandFest as the operating hub while retaining proven systems of record.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B53F5A92-0942-46F5-BA59-6F2B716CE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73352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D77"/>
          </a:solidFill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899808B-ADF1-474F-8212-7D7844F2A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73352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DF7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3D8A9D90-F299-4CFB-953E-0887D6E95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1600200"/>
            <a:ext cx="74980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172126"/>
                </a:solidFill>
                <a:latin typeface="Calibri"/>
                <a:ea typeface="Calibri"/>
                <a:cs typeface="Calibri"/>
              </a:rPr>
              <a:t>Approve the staged post-board activation plan and managed production foundation.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65204066-3DBE-4D27-9CD4-E02FB3506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313432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D77"/>
          </a:solidFill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4CA16F3E-679D-4102-8671-969D44E86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313432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DF7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7DDC189-C604-4373-BEF8-AB3496585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240280"/>
            <a:ext cx="74980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172126"/>
                </a:solidFill>
                <a:latin typeface="Calibri"/>
                <a:ea typeface="Calibri"/>
                <a:cs typeface="Calibri"/>
              </a:rPr>
              <a:t>Assign owners for provider accounts, identity, DNS, Apple signing, and recovery.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37124A8E-736B-4E6F-A704-36813E717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53512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D77"/>
          </a:solidFill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5BD2EB9A-2110-4A70-8C19-1628C5883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53512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DF7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07FD697B-76E1-44F6-893D-223E0EC31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880360"/>
            <a:ext cx="74980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172126"/>
                </a:solidFill>
                <a:latin typeface="Calibri"/>
                <a:ea typeface="Calibri"/>
                <a:cs typeface="Calibri"/>
              </a:rPr>
              <a:t>Authorize collection and review of current finance, partner, schedule, map, permit, and policy sources.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FF5A338D-6057-47F8-8FFB-C331350B7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593592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D77"/>
          </a:solidFill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1FA0F9F0-BEC6-4F5D-84FF-5316C1813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593592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DF7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5E80C89E-320A-411C-9562-A94CBD63E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520440"/>
            <a:ext cx="74980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172126"/>
                </a:solidFill>
                <a:latin typeface="Calibri"/>
                <a:ea typeface="Calibri"/>
                <a:cs typeface="Calibri"/>
              </a:rPr>
              <a:t>Keep RFID, closed-loop cashless, and unapproved providers deferred until evidence supports activation.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F37767A8-7462-4400-B541-50F72E1F1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28032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5747C"/>
                </a:solidFill>
                <a:latin typeface="Calibri"/>
                <a:ea typeface="Calibri"/>
                <a:cs typeface="Calibri"/>
              </a:rPr>
              <a:t>Texas SandFest  ·  Confidential board briefing  ·  July 2026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ED6E8907-E250-4331-819E-0E6A17364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828032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5747C"/>
                </a:solidFill>
                <a:latin typeface="Calibri"/>
                <a:ea typeface="Calibri"/>
                <a:cs typeface="Calibri"/>
              </a:rPr>
              <a:t>11 / 12</a:t>
            </a:r>
          </a:p>
        </p:txBody>
      </p:sp>
    </p:spTree>
    <p:extLst>
      <p:ext uri="{BB962C8B-B14F-4D97-AF65-F5344CB8AC3E}">
        <p14:creationId xmlns:p14="http://schemas.microsoft.com/office/powerpoint/2010/main" val="162910722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11CB84E-DB2E-49E9-BF68-69506D60B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33A"/>
          </a:solidFill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42B2CAA7-02F0-45D3-8BD1-7A72B1306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D4A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1907735-614B-4691-AE85-C06188BC0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371600"/>
            <a:ext cx="7772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4DFAC"/>
                </a:solidFill>
                <a:latin typeface="Calibri"/>
                <a:ea typeface="Calibri"/>
                <a:cs typeface="Calibri"/>
              </a:rPr>
              <a:t>Board decision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3B18EF4A-C302-4E4F-A0CE-5B4052474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77724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FFFDF7"/>
                </a:solidFill>
                <a:latin typeface="Georgia"/>
                <a:ea typeface="Georgia"/>
                <a:cs typeface="Georgia"/>
              </a:rPr>
              <a:t>Approve the activation path. Move from certified demo to controlled production.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D41D1C35-1C59-493E-8DB9-8460590B2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108960"/>
            <a:ext cx="77724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F4DFAC"/>
                </a:solidFill>
                <a:latin typeface="Calibri"/>
                <a:ea typeface="Calibri"/>
                <a:cs typeface="Calibri"/>
              </a:rPr>
              <a:t>Proof: 10/10 journeys · Chromium 14/14 · WebKit 14/14 · 12/12 readiness</a:t>
            </a:r>
          </a:p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F4DFAC"/>
                </a:solidFill>
                <a:latin typeface="Calibri"/>
                <a:ea typeface="Calibri"/>
                <a:cs typeface="Calibri"/>
              </a:rPr>
              <a:t>Runbook: docs/board-runtime.md · docs/deploy-runbook.md</a:t>
            </a:r>
          </a:p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F4DFAC"/>
                </a:solidFill>
                <a:latin typeface="Calibri"/>
                <a:ea typeface="Calibri"/>
                <a:cs typeface="Calibri"/>
              </a:rPr>
              <a:t>Blueprint: docs/ultimate-festival-platform.md</a:t>
            </a:r>
          </a:p>
        </p:txBody>
      </p:sp>
    </p:spTree>
    <p:extLst>
      <p:ext uri="{BB962C8B-B14F-4D97-AF65-F5344CB8AC3E}">
        <p14:creationId xmlns:p14="http://schemas.microsoft.com/office/powerpoint/2010/main" val="1324213396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2026-07-25T20:28:43.0580000Z</dcterms:created>
  <dcterms:modified xsi:type="dcterms:W3CDTF">2026-07-25T20:28:43.0580000Z</dcterms:modified>
</coreProperties>
</file>