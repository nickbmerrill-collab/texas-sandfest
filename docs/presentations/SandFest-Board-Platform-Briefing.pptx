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33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006D7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Ultimate Festival Platform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briefing — what we own, what we buy, what’s shipping for 2026–27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Aransas  ·  3-day beach festival  ·  100,000+ visitors  ·  lean nonprofit ops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board is here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697480" cy="109728"/>
          </a:xfrm>
          <a:prstGeom prst="rect">
            <a:avLst/>
          </a:prstGeom>
          <a:solidFill>
            <a:srgbClr val="006D7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100k+ guests on a beach corridor. Spreadsheets and radio alone don’t scale to live ops + revenue + safety messaging.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97280"/>
            <a:ext cx="2697480" cy="109728"/>
          </a:xfrm>
          <a:prstGeom prst="rect">
            <a:avLst/>
          </a:prstGeom>
          <a:solidFill>
            <a:srgbClr val="006D77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74720" y="196596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Eventeny, Stripe, QuickBooks, radio, Wix, and ad-hoc tools each hold a piece of the truth — nobody has one dashboard.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97280"/>
            <a:ext cx="2697480" cy="109728"/>
          </a:xfrm>
          <a:prstGeom prst="rect">
            <a:avLst/>
          </a:prstGeom>
          <a:solidFill>
            <a:srgbClr val="E85D4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Opportunity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196596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hub (our app + API). Buy commodity SaaS. Build only differentiators: map, passport, fleet, ops coverage, consent.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Operating principle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12333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4DF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hub. Buy the point solutions. Build only the glue and the differentiators.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1234440" cy="384048"/>
          </a:xfrm>
          <a:prstGeom prst="roundRect">
            <a:avLst>
              <a:gd name="adj" fmla="val 14286"/>
            </a:avLst>
          </a:prstGeom>
          <a:solidFill>
            <a:srgbClr val="006D7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5603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2560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Eventeny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06240" y="25603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Ticketing, vendor apps, COI, booth fees, sponsor tiers (~80% already owned)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035808"/>
            <a:ext cx="1234440" cy="384048"/>
          </a:xfrm>
          <a:prstGeom prst="roundRect">
            <a:avLst>
              <a:gd name="adj" fmla="val 14286"/>
            </a:avLst>
          </a:prstGeom>
          <a:solidFill>
            <a:srgbClr val="006D7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0358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28800" y="30358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VolunteerLocal, Brevo, Zello, Fathom…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30358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signup, email/SMS marketing, PoC comms, analytics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511296"/>
            <a:ext cx="1234440" cy="384048"/>
          </a:xfrm>
          <a:prstGeom prst="roundRect">
            <a:avLst>
              <a:gd name="adj" fmla="val 14286"/>
            </a:avLst>
          </a:prstGeom>
          <a:solidFill>
            <a:srgbClr val="006D7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51129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0" y="35112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Node + web + iOS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06240" y="35112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ledger, map, passport, fleet, ops coverage, consent hub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986784"/>
            <a:ext cx="1234440" cy="384048"/>
          </a:xfrm>
          <a:prstGeom prst="roundRect">
            <a:avLst>
              <a:gd name="adj" fmla="val 14286"/>
            </a:avLst>
          </a:prstGeom>
          <a:solidFill>
            <a:srgbClr val="E85D4A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8678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28800" y="39867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/ closed-loop cashless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06240" y="398678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entry + open-loop tap-to-pay until network + ROI proven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hub — three experiences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926080" y="18288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12333A"/>
          </a:solidFill>
          <a:ln/>
        </p:spPr>
      </p:sp>
      <p:sp>
        <p:nvSpPr>
          <p:cNvPr id="5" name="Text 3"/>
          <p:cNvSpPr/>
          <p:nvPr/>
        </p:nvSpPr>
        <p:spPr>
          <a:xfrm>
            <a:off x="3063240" y="2148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Node Admin API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of record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2377440" cy="1051560"/>
          </a:xfrm>
          <a:prstGeom prst="roundRect">
            <a:avLst>
              <a:gd name="adj" fmla="val 8696"/>
            </a:avLst>
          </a:prstGeom>
          <a:solidFill>
            <a:srgbClr val="FFFDF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704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Web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site, tickets, map, passport, votes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005840"/>
            <a:ext cx="2377440" cy="1051560"/>
          </a:xfrm>
          <a:prstGeom prst="roundRect">
            <a:avLst>
              <a:gd name="adj" fmla="val 8696"/>
            </a:avLst>
          </a:prstGeom>
          <a:solidFill>
            <a:srgbClr val="FFFDF7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1704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 + QR + Admin fleet &amp; ops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2377440" cy="1051560"/>
          </a:xfrm>
          <a:prstGeom prst="roundRect">
            <a:avLst>
              <a:gd name="adj" fmla="val 8696"/>
            </a:avLst>
          </a:prstGeom>
          <a:solidFill>
            <a:srgbClr val="FFFDF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73075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Console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4069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coverage, fleet, alerts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3566160"/>
            <a:ext cx="2377440" cy="1051560"/>
          </a:xfrm>
          <a:prstGeom prst="roundRect">
            <a:avLst>
              <a:gd name="adj" fmla="val 8696"/>
            </a:avLst>
          </a:prstGeom>
          <a:solidFill>
            <a:srgbClr val="FFFDF7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373075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feeds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4069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Eventeny · Stripe · QB · Twilio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this cycle (verified)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86868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978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ledger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1252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dashboard: Stripe / Eventeny / Square / manual → fees + bank reconciliation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73736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18470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Sculptors + corridor map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121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Roster, filters, illustrated beach map (no map token required)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260604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27157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Sculpture Passport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29900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stamps web + iOS + server progress + prize finisher path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47472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35844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checkout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8587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 carts / UTVs / generators — QR check-out/in, ops panel, iOS Admin tab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86868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40680" y="978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coverage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40680" y="1252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of VolunteerLocal → zone fill vs needed + understaffed board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173736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40680" y="18470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+ SMS scaffold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40680" y="2121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email / promo SMS / safety SMS; Twilio ready when keys arrive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260604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440680" y="27157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People’s Choice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40680" y="29900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vote per device, live tallies, admin leaderboard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00600" y="347472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40680" y="35844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Booth / vendor map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40680" y="38587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pins from Eventeny-shaped CSV; import script ready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board can open today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743200" cy="3200400"/>
          </a:xfrm>
          <a:prstGeom prst="roundRect">
            <a:avLst>
              <a:gd name="adj" fmla="val 4000"/>
            </a:avLst>
          </a:prstGeom>
          <a:solidFill>
            <a:srgbClr val="FFFD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Visitor web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/ Operations toggle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+ consent opt-ins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Sculptors, passport, votes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booth map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1051560"/>
            <a:ext cx="2743200" cy="3200400"/>
          </a:xfrm>
          <a:prstGeom prst="roundRect">
            <a:avLst>
              <a:gd name="adj" fmla="val 4000"/>
            </a:avLst>
          </a:prstGeom>
          <a:solidFill>
            <a:srgbClr val="12333A"/>
          </a:solidFill>
          <a:ln/>
        </p:spPr>
      </p:sp>
      <p:sp>
        <p:nvSpPr>
          <p:cNvPr id="8" name="Text 6"/>
          <p:cNvSpPr/>
          <p:nvPr/>
        </p:nvSpPr>
        <p:spPr>
          <a:xfrm>
            <a:off x="352044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DF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Ops console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20440" y="18745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KPIs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check-out/in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coverage gaps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&amp; vote stats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051560"/>
            <a:ext cx="2743200" cy="3200400"/>
          </a:xfrm>
          <a:prstGeom prst="roundRect">
            <a:avLst>
              <a:gd name="adj" fmla="val 4000"/>
            </a:avLst>
          </a:prstGeom>
          <a:solidFill>
            <a:srgbClr val="FFFDF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iOS app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18745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Beach + Sculptors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Fleet + Command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scanner for stamps &amp;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checkout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Budget snapshot (verify before FY commit)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solidFill>
            <a:srgbClr val="FFFD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686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/ analytics / comms SaaS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0" y="868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~$50–90 / mo + ads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solidFill>
            <a:srgbClr val="F0EBE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VolunteerLocal (or Track It Forward)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3258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~$200–800 / event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solidFill>
            <a:srgbClr val="FFFDF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7830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(free tier at event scale)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 typical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8229600" cy="411480"/>
          </a:xfrm>
          <a:prstGeom prst="rect">
            <a:avLst/>
          </a:prstGeom>
          <a:solidFill>
            <a:srgbClr val="F0EBE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2402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connectivity (dominant line)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0" y="22402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$10–35k rented weekend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411480"/>
          </a:xfrm>
          <a:prstGeom prst="rect">
            <a:avLst/>
          </a:prstGeom>
          <a:solidFill>
            <a:srgbClr val="FFFDF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974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GPS trackers (LoRaWAN)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2697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~$30–80 / unit one-time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8229600" cy="411480"/>
          </a:xfrm>
          <a:prstGeom prst="rect">
            <a:avLst/>
          </a:prstGeom>
          <a:solidFill>
            <a:srgbClr val="F0EBE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1546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(Twilio) full 100k safety blast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0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~$1,100 / blast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411480"/>
          </a:xfrm>
          <a:prstGeom prst="rect">
            <a:avLst/>
          </a:prstGeom>
          <a:solidFill>
            <a:srgbClr val="FFFDF7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118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/ closed-loop cashless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36118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now (deferred)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— foundations first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743200" cy="338328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2743200" cy="502920"/>
          </a:xfrm>
          <a:prstGeom prst="rect">
            <a:avLst/>
          </a:prstGeom>
          <a:solidFill>
            <a:srgbClr val="006D77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51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— Now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ledger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capture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schema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intake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quotes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960120"/>
            <a:ext cx="2743200" cy="338328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960120"/>
            <a:ext cx="2743200" cy="502920"/>
          </a:xfrm>
          <a:prstGeom prst="rect">
            <a:avLst/>
          </a:prstGeom>
          <a:solidFill>
            <a:srgbClr val="12333A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051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Event ’27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169164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+ voting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checkout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mirror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Booth map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live (blocked)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GPS (blocked)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960120"/>
            <a:ext cx="2743200" cy="338328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960120"/>
            <a:ext cx="2743200" cy="502920"/>
          </a:xfrm>
          <a:prstGeom prst="rect">
            <a:avLst/>
          </a:prstGeom>
          <a:solidFill>
            <a:srgbClr val="E85D4A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051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2027+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169164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cutover from Wix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Zello PoC + radio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re-evaluate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Cashless re-evaluate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CAD if needed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 asks — unblock Phase 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secrets in chat — use password manager + git-ignored .env (see docs/incoming-access-intake.md)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DF7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417320"/>
            <a:ext cx="292608" cy="29260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3258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admin + keys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58191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revenue ledger + owned checkout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DF7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194560"/>
            <a:ext cx="292608" cy="29260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103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Eventeny admin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3591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Ticket/vendor/booth CSV sync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D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2971800"/>
            <a:ext cx="292608" cy="29260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8803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QuickBooks Online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1363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+ clearing-account reconciliation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D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749040"/>
            <a:ext cx="292608" cy="29260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6576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SID + token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91363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SMS + safety alerts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123444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DF7"/>
          </a:solidFill>
          <a:ln/>
        </p:spPr>
      </p:sp>
      <p:sp>
        <p:nvSpPr>
          <p:cNvPr id="22" name="Shape 20"/>
          <p:cNvSpPr/>
          <p:nvPr/>
        </p:nvSpPr>
        <p:spPr>
          <a:xfrm>
            <a:off x="4937760" y="1417320"/>
            <a:ext cx="292608" cy="29260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23" name="Text 21"/>
          <p:cNvSpPr/>
          <p:nvPr/>
        </p:nvSpPr>
        <p:spPr>
          <a:xfrm>
            <a:off x="5349240" y="13258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token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158191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GPS sculpture / booth map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00600" y="201168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DF7"/>
          </a:solidFill>
          <a:ln/>
        </p:spPr>
      </p:sp>
      <p:sp>
        <p:nvSpPr>
          <p:cNvPr id="26" name="Shape 24"/>
          <p:cNvSpPr/>
          <p:nvPr/>
        </p:nvSpPr>
        <p:spPr>
          <a:xfrm>
            <a:off x="4937760" y="2194560"/>
            <a:ext cx="292608" cy="29260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27" name="Text 25"/>
          <p:cNvSpPr/>
          <p:nvPr/>
        </p:nvSpPr>
        <p:spPr>
          <a:xfrm>
            <a:off x="5349240" y="2103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+ Wix host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49240" y="23591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site overhaul / cutover plan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00600" y="278892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DF7"/>
          </a:solidFill>
          <a:ln/>
        </p:spPr>
      </p:sp>
      <p:sp>
        <p:nvSpPr>
          <p:cNvPr id="30" name="Shape 28"/>
          <p:cNvSpPr/>
          <p:nvPr/>
        </p:nvSpPr>
        <p:spPr>
          <a:xfrm>
            <a:off x="4937760" y="2971800"/>
            <a:ext cx="292608" cy="29260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31" name="Text 29"/>
          <p:cNvSpPr/>
          <p:nvPr/>
        </p:nvSpPr>
        <p:spPr>
          <a:xfrm>
            <a:off x="5349240" y="28803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VolunteerLocal decision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49240" y="31363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signup engine; we mirror coverage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00600" y="356616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DF7"/>
          </a:solidFill>
          <a:ln/>
        </p:spPr>
      </p:sp>
      <p:sp>
        <p:nvSpPr>
          <p:cNvPr id="34" name="Shape 32"/>
          <p:cNvSpPr/>
          <p:nvPr/>
        </p:nvSpPr>
        <p:spPr>
          <a:xfrm>
            <a:off x="4937760" y="3749040"/>
            <a:ext cx="292608" cy="29260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35" name="Text 33"/>
          <p:cNvSpPr/>
          <p:nvPr/>
        </p:nvSpPr>
        <p:spPr>
          <a:xfrm>
            <a:off x="5349240" y="36576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quote approval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49240" y="391363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Starlink + mesh for event weekend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 we are managing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128016" cy="777240"/>
          </a:xfrm>
          <a:prstGeom prst="rect">
            <a:avLst/>
          </a:prstGeom>
          <a:solidFill>
            <a:srgbClr val="006D7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6984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34416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cell dies under crowd load. Rent managed network year 1; offline-first apps already designed.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828800"/>
            <a:ext cx="128016" cy="777240"/>
          </a:xfrm>
          <a:prstGeom prst="rect">
            <a:avLst/>
          </a:prstGeom>
          <a:solidFill>
            <a:srgbClr val="E85D4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9385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creep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21284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rebuild Eventeny or VolunteerLocal. Hub + glue only.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697480"/>
            <a:ext cx="128016" cy="777240"/>
          </a:xfrm>
          <a:prstGeom prst="rect">
            <a:avLst/>
          </a:prstGeom>
          <a:solidFill>
            <a:srgbClr val="006D77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80720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compliance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08152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A2P 10DLC + separate marketing vs safety campaigns before any blast.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D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566160"/>
            <a:ext cx="128016" cy="777240"/>
          </a:xfrm>
          <a:prstGeom prst="rect">
            <a:avLst/>
          </a:prstGeom>
          <a:solidFill>
            <a:srgbClr val="006D7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67588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lag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950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feeds stay seeded until logins arrive — demos work either way.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5E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board decisions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365760" cy="365760"/>
          </a:xfrm>
          <a:prstGeom prst="ellipse">
            <a:avLst/>
          </a:prstGeom>
          <a:solidFill>
            <a:srgbClr val="006D7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33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9601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the hub model: keep Eventeny; do not rebuild vendor/ticketing SaaS.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73352"/>
            <a:ext cx="365760" cy="365760"/>
          </a:xfrm>
          <a:prstGeom prst="ellipse">
            <a:avLst/>
          </a:prstGeom>
          <a:solidFill>
            <a:srgbClr val="006D77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6002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Phase 1 build labor already in progress on feature/ultimate-festival-platform.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13432"/>
            <a:ext cx="365760" cy="365760"/>
          </a:xfrm>
          <a:prstGeom prst="ellipse">
            <a:avLst/>
          </a:prstGeom>
          <a:solidFill>
            <a:srgbClr val="006D77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2402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outreach for connectivity rental quotes (Festival WiFi / equivalent).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953512"/>
            <a:ext cx="365760" cy="365760"/>
          </a:xfrm>
          <a:prstGeom prst="ellipse">
            <a:avLst/>
          </a:prstGeom>
          <a:solidFill>
            <a:srgbClr val="006D77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803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owners for each login in the access registry (Stripe, Eventeny, QB, Twilio, domain).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2920" y="3593592"/>
            <a:ext cx="365760" cy="365760"/>
          </a:xfrm>
          <a:prstGeom prst="ellipse">
            <a:avLst/>
          </a:prstGeom>
          <a:solidFill>
            <a:srgbClr val="006D7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593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520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RFID and closed-loop cashless for 2026; revisit after network + 2027 attendance data.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33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E85D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 access. We light up live money, maps, and SMS.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docs/ultimate-festival-platform.md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intake: docs/incoming-access-intake.md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Branch: feature/ultimate-festival-platform (not yet pushed)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Texas SandFest — Ultimate Festival Platform Board Briefing</dc:title>
  <dc:subject>Build vs buy roadmap, shipped capabilities, budget asks</dc:subject>
  <dc:creator>Heyelab / Texas SandFest Platform</dc:creator>
  <cp:lastModifiedBy>Heyelab / Texas SandFest Platform</cp:lastModifiedBy>
  <cp:revision>1</cp:revision>
  <dcterms:created xsi:type="dcterms:W3CDTF">2026-07-15T18:33:41Z</dcterms:created>
  <dcterms:modified xsi:type="dcterms:W3CDTF">2026-07-15T18:33:41Z</dcterms:modified>
</cp:coreProperties>
</file>