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result: this is a working, certified operating platform.
The board decision is about the activation path, not whether the concept is technically possible.
[Sources]
- Internal: .sandfest-runtime/board-capability-certification.json
- Internal: 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shift from product exploration to governed launch.
The product proof and the production controls are both part of the value proposition.
[Sources]
- Internal: .sandfest-runtime/board-capability-certification.json
- Internal: docs/deploy-runbook.md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SandFest owns the operating truth while proven providers remain systems of record.
This model protects focus and avoids rebuilding commodity software.
[Sources]
- Internal: docs/ultimate-festival-platform.md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clockwise: visitor, partner, operations, then field and iOS.
All four experiences share the same governed API and annual event context.
[Sources]
- Internal: 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evidence slide.
Call out that every journey restores the same 12-of-12 baseline before the next journey begins.
[Sources]
- Internal: .sandfest-runtime/board-capability-certification.json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columns as the live demo route.
Keep the walkthrough outcome-oriented: show the closed loops, not every control.
[Sources]
- Internal: docs/board-runtime.md
- Internal: 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boundary plainly: the board demo is real product behavior with synthetic providers.
No external message, charge, live feed, or production claim is required for the presentation; deployed previews use deployment:verify:site.
[Sources]
- Internal: .sandfest-runtime/board-capability-certification.json
- Internal: docs/deploy-runbook.md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activation sequence is intentionally staged.
Each provider earns production enablement through its own account, configuration, and acceptance proof.
[Sources]
- Internal: docs/deploy-runbook.md
- Internal: docs/ultimate-festival-platform.md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owners and approvals, not passwords in the meeting.
Source documents remain private and enter the governed ingestion workflow after the board session.
[Sources]
- Internal: docs/incoming-access-intake.md
- Internal: docs/deploy-runbook.md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risk to the gate that contains it.
The platform is designed to make incomplete launch evidence visible instead of silently degrading.
[Sources]
- Internal: README.md
- Internal: docs/deploy-runbook.md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on this slide and secure explicit agreement for each item.
Capture one accountable owner and next date for every approved activation category.
[Sources]
- Internal: docs/ultimate-festival-platform.md
- Internal: docs/deploy-runbook.md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tying the requested decision back to the verified proof.
After approval, activate one provider at a time and preserve the same fail-closed acceptance discipline.
[Sources]
- Internal: .sandfest-runtime/board-capability-certification.json
- Internal: docs/board-runtime.md
- Internal: docs/deploy-runbook.md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79392"/>
            <a:ext cx="9144000" cy="86868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4D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SANDFEST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5727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D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Certified Festival Platform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594360" y="245059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D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briefing — certified product, controlled activation, clear decisions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44988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Aransas  ·  Visitor experience  ·  Partner operations  ·  Event-day command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product works; activation is the decision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133856"/>
            <a:ext cx="2651760" cy="297180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8E0D0">
                <a:alpha val="9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33856"/>
            <a:ext cx="109728" cy="29718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26464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product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1938528"/>
            <a:ext cx="2148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presentation stack now completes visitor, partner, staff, finance, document, and event-day workflows end to end.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133856"/>
            <a:ext cx="2651760" cy="297180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8E0D0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1133856"/>
            <a:ext cx="109728" cy="29718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426464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Governed launch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520440" y="1938528"/>
            <a:ext cx="2148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capabilities remain closed until the right account, source, policy, origin, and recovery evidence is present.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133856"/>
            <a:ext cx="2651760" cy="297180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8E0D0">
                <a:alpha val="9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133856"/>
            <a:ext cx="109728" cy="2971800"/>
          </a:xfrm>
          <a:prstGeom prst="rect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426464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 choice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355080" y="1938528"/>
            <a:ext cx="2148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feature debate to a controlled activation plan with accountable owners and one provider connected at a time.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828032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SandFest  ·  Confidential board briefing  ·  July 2026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818120" y="482803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5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 the hub; integrate proven systems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8138160" cy="1024128"/>
          </a:xfrm>
          <a:prstGeom prst="roundRect">
            <a:avLst/>
          </a:prstGeom>
          <a:solidFill>
            <a:srgbClr val="12333A"/>
          </a:solidFill>
          <a:ln w="12700">
            <a:solidFill>
              <a:srgbClr val="12333A">
                <a:alpha val="9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29844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4DF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 the operating hub. Integrate proven providers. Build the SandFest experiences nobody else will.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" y="2395728"/>
            <a:ext cx="1097280" cy="310896"/>
          </a:xfrm>
          <a:prstGeom prst="round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45973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901952" y="242316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Eventeny + existing systems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297680" y="2423160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Application, ticket, vendor, volunteer, and accounting source systems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2907792"/>
            <a:ext cx="1097280" cy="310896"/>
          </a:xfrm>
          <a:prstGeom prst="round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9718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901952" y="293522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· QB · Brevo · Twilio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297680" y="2935224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Payments, accounting, delivery, SMS, and maps after account activation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3419856"/>
            <a:ext cx="1097280" cy="310896"/>
          </a:xfrm>
          <a:prstGeom prst="round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48386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901952" y="344728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SandFest web + API + iOS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297680" y="3447288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Visitor, partner, operations, finance, documents, and field command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" y="3931920"/>
            <a:ext cx="1097280" cy="310896"/>
          </a:xfrm>
          <a:prstGeom prst="roundRect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9959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901952" y="395935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/ closed-loop cashless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297680" y="3959352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QR/open-loop until network and ROI are proven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828032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SandFest  ·  Confidential board briefing  ·  July 2026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818120" y="482803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5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system connects every experience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2944368" y="1901952"/>
            <a:ext cx="3255264" cy="1234440"/>
          </a:xfrm>
          <a:prstGeom prst="roundRect">
            <a:avLst/>
          </a:prstGeom>
          <a:solidFill>
            <a:srgbClr val="12333A"/>
          </a:solidFill>
          <a:ln w="12700">
            <a:solidFill>
              <a:srgbClr val="12333A">
                <a:alpha val="9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82112" y="2212848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D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SandFest Admin API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D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of record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2331720" cy="102412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8E0D0">
                <a:alpha val="9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070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152704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buy, navigate, ask, vote, and get help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55080" y="1024128"/>
            <a:ext cx="2331720" cy="102412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8E0D0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2070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537960" y="152704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Apply, pay, submit proof, and track readiness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3401568"/>
            <a:ext cx="2331720" cy="102412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8E0D0">
                <a:alpha val="9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58444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85800" y="390448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budgets, work, documents, incidents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55080" y="3401568"/>
            <a:ext cx="2331720" cy="102412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8E0D0">
                <a:alpha val="9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358444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+ iOS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37960" y="390448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Fleet, QR, coverage, and live command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4828032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SandFest  ·  Confidential board briefing  ·  July 2026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818120" y="482803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5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 journeys prove the product end to end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38912" y="877824"/>
            <a:ext cx="4069080" cy="713232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8E0D0">
                <a:alpha val="9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042416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85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78992" y="9875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gate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78992" y="124358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5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 journeys · Chromium 14/14 · WebKit 14/14 · baseline restored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8912" y="1719072"/>
            <a:ext cx="4069080" cy="713232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8E0D0">
                <a:alpha val="9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883664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85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78992" y="18288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+ guest services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78992" y="208483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5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Guidance, Ask Sandy, tickets, voting, and private help cases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" y="2560320"/>
            <a:ext cx="4069080" cy="713232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8E0D0">
                <a:alpha val="9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272491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85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78992" y="26700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78992" y="292608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5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Sponsor/vendor intake, portal, branding, compliance, booth readiness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3401568"/>
            <a:ext cx="4069080" cy="713232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8E0D0">
                <a:alpha val="9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356616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85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78992" y="351129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78992" y="37673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5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Tickets, refunds, revenue, receivables, budgets, and exports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9744" y="877824"/>
            <a:ext cx="4069080" cy="713232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8E0D0">
                <a:alpha val="9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1042416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85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49824" y="9875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+ work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49824" y="124358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5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Staff, volunteer, and team routing with a private mobile lifecycle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09744" y="1719072"/>
            <a:ext cx="4069080" cy="713232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8E0D0">
                <a:alpha val="9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1883664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85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49824" y="18288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49824" y="208483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5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prospects, invitation conversion, and reviewed automation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09744" y="2560320"/>
            <a:ext cx="4069080" cy="713232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8E0D0">
                <a:alpha val="9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272491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85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449824" y="26700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49824" y="292608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5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intake, extraction, review, audit, and checksum download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09744" y="3401568"/>
            <a:ext cx="4069080" cy="713232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8E0D0">
                <a:alpha val="92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3566160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85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449824" y="351129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Event-day command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49824" y="37673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5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conditions, eight cameras, incidents, dispatch, recovery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4828032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SandFest  ·  Confidential board briefing  ·  July 2026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818120" y="482803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5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demonstrate to the board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1060704"/>
            <a:ext cx="2651760" cy="315468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8E0D0">
                <a:alpha val="9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4088" y="1353312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Visitor experience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04088" y="1938528"/>
            <a:ext cx="22494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Your Visit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7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Sandy + tickets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7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Map, passport, and voting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7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Services follow-through</a:t>
            </a:r>
            <a:endParaRPr lang="en-US" sz="1320" dirty="0"/>
          </a:p>
        </p:txBody>
      </p:sp>
      <p:sp>
        <p:nvSpPr>
          <p:cNvPr id="6" name="Shape 4"/>
          <p:cNvSpPr/>
          <p:nvPr/>
        </p:nvSpPr>
        <p:spPr>
          <a:xfrm>
            <a:off x="3355848" y="1060704"/>
            <a:ext cx="2651760" cy="3154680"/>
          </a:xfrm>
          <a:prstGeom prst="roundRect">
            <a:avLst/>
          </a:prstGeom>
          <a:solidFill>
            <a:srgbClr val="12333A"/>
          </a:solidFill>
          <a:ln w="12700">
            <a:solidFill>
              <a:srgbClr val="12333A">
                <a:alpha val="9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57016" y="1353312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F4DF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 command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3557016" y="1938528"/>
            <a:ext cx="22494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+ budget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readiness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Delegated work + documents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+ communications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6208776" y="1060704"/>
            <a:ext cx="2651760" cy="315468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8E0D0">
                <a:alpha val="9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9944" y="1353312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006D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 + field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409944" y="1938528"/>
            <a:ext cx="22494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Sponsor/vendor portals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7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+ proof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7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Volunteer/fleet handoff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7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visitor + admin modes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457200" y="4828032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SandFest  ·  Confidential board briefing  ·  July 2026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818120" y="482803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5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certified now—and what stays gated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3886200" cy="56692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8E0D0">
                <a:alpha val="9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60120"/>
            <a:ext cx="109728" cy="56692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0881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presentation stack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3127248" y="108813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now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09160" y="960120"/>
            <a:ext cx="3886200" cy="56692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8E0D0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09160" y="960120"/>
            <a:ext cx="109728" cy="56692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56048" y="10881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provider safeguards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7287768" y="108813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Board-safe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1709928"/>
            <a:ext cx="3886200" cy="56692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8E0D0">
                <a:alpha val="9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709928"/>
            <a:ext cx="109728" cy="56692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183794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Deployed-site acceptance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3127248" y="183794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deployment:verify:site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9160" y="1709928"/>
            <a:ext cx="3886200" cy="56692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8E0D0">
                <a:alpha val="9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1709928"/>
            <a:ext cx="109728" cy="566928"/>
          </a:xfrm>
          <a:prstGeom prst="rect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6048" y="183794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+ accounting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7287768" y="183794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Post-board gate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2459736"/>
            <a:ext cx="3886200" cy="56692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8E0D0">
                <a:alpha val="9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459736"/>
            <a:ext cx="109728" cy="566928"/>
          </a:xfrm>
          <a:prstGeom prst="rect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25877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Communications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3127248" y="258775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Post-board gate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2459736"/>
            <a:ext cx="3886200" cy="56692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8E0D0">
                <a:alpha val="9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2459736"/>
            <a:ext cx="109728" cy="566928"/>
          </a:xfrm>
          <a:prstGeom prst="rect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25877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protection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7287768" y="258775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Post-board gate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3209544"/>
            <a:ext cx="3886200" cy="56692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8E0D0">
                <a:alpha val="9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3209544"/>
            <a:ext cx="109728" cy="566928"/>
          </a:xfrm>
          <a:prstGeom prst="rect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" y="33375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distribution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3127248" y="33375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Account-owned gate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3209544"/>
            <a:ext cx="3886200" cy="56692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8E0D0">
                <a:alpha val="9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3209544"/>
            <a:ext cx="109728" cy="566928"/>
          </a:xfrm>
          <a:prstGeom prst="rect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56048" y="33375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+ public cutover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7287768" y="33375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gate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4828032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SandFest  ·  Confidential board briefing  ·  July 2026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818120" y="482803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5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Certified demo to controlled production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2651760" cy="3291840"/>
          </a:xfrm>
          <a:prstGeom prst="roundRect">
            <a:avLst/>
          </a:prstGeom>
          <a:solidFill>
            <a:srgbClr val="E7F2EF"/>
          </a:solidFill>
          <a:ln w="12700">
            <a:solidFill>
              <a:srgbClr val="E8E0D0">
                <a:alpha val="9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960120"/>
            <a:ext cx="109728" cy="329184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17043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Board-ready now</a:t>
            </a:r>
            <a:endParaRPr lang="en-US" sz="1340" dirty="0"/>
          </a:p>
        </p:txBody>
      </p:sp>
      <p:sp>
        <p:nvSpPr>
          <p:cNvPr id="6" name="Text 4"/>
          <p:cNvSpPr/>
          <p:nvPr/>
        </p:nvSpPr>
        <p:spPr>
          <a:xfrm>
            <a:off x="704088" y="1627632"/>
            <a:ext cx="2240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10-journey certificate ✓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+ Operations ✓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handoffs ✓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+ incidents ✓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providers ✓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55848" y="960120"/>
            <a:ext cx="2651760" cy="329184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8E0D0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55848" y="960120"/>
            <a:ext cx="109728" cy="3291840"/>
          </a:xfrm>
          <a:prstGeom prst="rect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57016" y="117043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Post-board activation</a:t>
            </a:r>
            <a:endParaRPr lang="en-US" sz="1340" dirty="0"/>
          </a:p>
        </p:txBody>
      </p:sp>
      <p:sp>
        <p:nvSpPr>
          <p:cNvPr id="10" name="Text 8"/>
          <p:cNvSpPr/>
          <p:nvPr/>
        </p:nvSpPr>
        <p:spPr>
          <a:xfrm>
            <a:off x="3557016" y="1627632"/>
            <a:ext cx="2240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data plane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+ Turnstile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/ QB / Brevo / Twilio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+ Apple signing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acceptance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08776" y="960120"/>
            <a:ext cx="2651760" cy="329184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8E0D0">
                <a:alpha val="9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08776" y="960120"/>
            <a:ext cx="109728" cy="3291840"/>
          </a:xfrm>
          <a:prstGeom prst="rect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9944" y="117043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cutover</a:t>
            </a:r>
            <a:endParaRPr lang="en-US" sz="1340" dirty="0"/>
          </a:p>
        </p:txBody>
      </p:sp>
      <p:sp>
        <p:nvSpPr>
          <p:cNvPr id="14" name="Text 12"/>
          <p:cNvSpPr/>
          <p:nvPr/>
        </p:nvSpPr>
        <p:spPr>
          <a:xfrm>
            <a:off x="6409944" y="1627632"/>
            <a:ext cx="2240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2027 content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roster/vendor imports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training + runbook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drill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cameras when approved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4828032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SandFest  ·  Confidential board briefing  ·  July 2026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818120" y="482803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5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 decisions that unlock the next stage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i="1" dirty="0">
                <a:solidFill>
                  <a:srgbClr val="65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and source documents remain with SandFest; activation proceeds one capability at a time.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931920" cy="56692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8E0D0">
                <a:alpha val="9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1673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owners</a:t>
            </a:r>
            <a:endParaRPr lang="en-US" sz="1180" dirty="0"/>
          </a:p>
        </p:txBody>
      </p:sp>
      <p:sp>
        <p:nvSpPr>
          <p:cNvPr id="6" name="Text 4"/>
          <p:cNvSpPr/>
          <p:nvPr/>
        </p:nvSpPr>
        <p:spPr>
          <a:xfrm>
            <a:off x="685800" y="151790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5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Providers, Apple, domain, and recovery</a:t>
            </a:r>
            <a:endParaRPr lang="en-US" sz="1040" dirty="0"/>
          </a:p>
        </p:txBody>
      </p:sp>
      <p:sp>
        <p:nvSpPr>
          <p:cNvPr id="7" name="Shape 5"/>
          <p:cNvSpPr/>
          <p:nvPr/>
        </p:nvSpPr>
        <p:spPr>
          <a:xfrm>
            <a:off x="4754880" y="1207008"/>
            <a:ext cx="3931920" cy="56692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8E0D0">
                <a:alpha val="9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31673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approval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4937760" y="151790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5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API, Postgres, and private storage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502920" y="1920240"/>
            <a:ext cx="3931920" cy="56692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8E0D0">
                <a:alpha val="9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0299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identity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685800" y="22311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5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tenant, admin roles, and recovery owner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4754880" y="1920240"/>
            <a:ext cx="3931920" cy="56692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8E0D0">
                <a:alpha val="9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0299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protection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4937760" y="22311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5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Turnstile, production origins, and callbacks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502920" y="2633472"/>
            <a:ext cx="3931920" cy="56692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8E0D0">
                <a:alpha val="9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743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documents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685800" y="294436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5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Sponsor, vendor, budget, map, and permit sources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4754880" y="2633472"/>
            <a:ext cx="3931920" cy="56692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8E0D0">
                <a:alpha val="9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743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approval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4937760" y="294436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5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facts, policies, guidance, roster, schedule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502920" y="3346704"/>
            <a:ext cx="3931920" cy="56692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8E0D0">
                <a:alpha val="92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45643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release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685800" y="365760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5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agreement, prefix, profile, and AASA</a:t>
            </a:r>
            <a:endParaRPr lang="en-US" sz="1040" dirty="0"/>
          </a:p>
        </p:txBody>
      </p:sp>
      <p:sp>
        <p:nvSpPr>
          <p:cNvPr id="25" name="Shape 23"/>
          <p:cNvSpPr/>
          <p:nvPr/>
        </p:nvSpPr>
        <p:spPr>
          <a:xfrm>
            <a:off x="4754880" y="3346704"/>
            <a:ext cx="3931920" cy="56692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8E0D0">
                <a:alpha val="92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45643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resilience</a:t>
            </a:r>
            <a:endParaRPr lang="en-US" sz="1180" dirty="0"/>
          </a:p>
        </p:txBody>
      </p:sp>
      <p:sp>
        <p:nvSpPr>
          <p:cNvPr id="27" name="Text 25"/>
          <p:cNvSpPr/>
          <p:nvPr/>
        </p:nvSpPr>
        <p:spPr>
          <a:xfrm>
            <a:off x="4937760" y="365760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5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Connectivity, cameras, and safety sign-off</a:t>
            </a:r>
            <a:endParaRPr lang="en-US" sz="1040" dirty="0"/>
          </a:p>
        </p:txBody>
      </p:sp>
      <p:sp>
        <p:nvSpPr>
          <p:cNvPr id="28" name="Text 26"/>
          <p:cNvSpPr/>
          <p:nvPr/>
        </p:nvSpPr>
        <p:spPr>
          <a:xfrm>
            <a:off x="457200" y="4828032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SandFest  ·  Confidential board briefing  ·  July 2026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818120" y="482803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5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Explicit gates control the remaining risk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138160" cy="65836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8E0D0">
                <a:alpha val="9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960120"/>
            <a:ext cx="109728" cy="658368"/>
          </a:xfrm>
          <a:prstGeom prst="rect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06984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Live-provider exposure</a:t>
            </a:r>
            <a:endParaRPr lang="en-US" sz="1280" dirty="0"/>
          </a:p>
        </p:txBody>
      </p:sp>
      <p:sp>
        <p:nvSpPr>
          <p:cNvPr id="6" name="Text 4"/>
          <p:cNvSpPr/>
          <p:nvPr/>
        </p:nvSpPr>
        <p:spPr>
          <a:xfrm>
            <a:off x="804672" y="1307592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integration stays disabled until credentials, callbacks, origins, and acceptance evidence are complete.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8138160" cy="65836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8E0D0">
                <a:alpha val="9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783080"/>
            <a:ext cx="109728" cy="65836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89280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privacy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804672" y="2130552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APIs expose approved fields only; private files, contacts, tokens, and review notes stay governed.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502920" y="2606040"/>
            <a:ext cx="8138160" cy="65836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8E0D0">
                <a:alpha val="9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606040"/>
            <a:ext cx="109728" cy="65836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71576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Event-day resilience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804672" y="2953512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Offline-safe visitor experiences and a supervised stack protect the demo; recovery drills gate production.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502920" y="3429000"/>
            <a:ext cx="8138160" cy="658368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E8E0D0">
                <a:alpha val="9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429000"/>
            <a:ext cx="109728" cy="65836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53872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2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control</a:t>
            </a:r>
            <a:endParaRPr lang="en-US" sz="1280" dirty="0"/>
          </a:p>
        </p:txBody>
      </p:sp>
      <p:sp>
        <p:nvSpPr>
          <p:cNvPr id="18" name="Text 16"/>
          <p:cNvSpPr/>
          <p:nvPr/>
        </p:nvSpPr>
        <p:spPr>
          <a:xfrm>
            <a:off x="804672" y="3776472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drift, dirty code, stale certificates, or incomplete baseline restoration block presentation and release.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457200" y="4828032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SandFest  ·  Confidential board briefing  ·  July 2026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818120" y="482803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5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board decisions move the product forward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969264"/>
            <a:ext cx="329184" cy="329184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033272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8992" y="93268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SandFest as the operating hub while retaining proven systems of record.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591056"/>
            <a:ext cx="329184" cy="329184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655064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78992" y="155448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staged post-board activation plan and managed production foundation.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212848"/>
            <a:ext cx="329184" cy="329184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276856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8992" y="217627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owners for provider accounts, identity, DNS, Apple signing, and recovery.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834640"/>
            <a:ext cx="329184" cy="329184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898648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78992" y="279806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collection and review of current finance, partner, schedule, map, permit, and policy sources.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3456432"/>
            <a:ext cx="329184" cy="329184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52044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78992" y="3419856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RFID, closed-loop cashless, and unapproved providers deferred until evidence supports activation.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4828032"/>
            <a:ext cx="7040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SandFest  ·  Confidential board briefing  ·  July 2026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818120" y="482803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5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3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115214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D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decision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" y="1719072"/>
            <a:ext cx="7909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D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 the activation path. Move from certified demo to controlled production.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29443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4D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10/10 journeys · Chromium 14/14 · WebKit 14/14 · 12/12 readiness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658368" y="327355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4D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preview gate: deployment:verify:site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658368" y="3785616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Runbook: docs/board-runtime.md · docs/deploy-runbook.md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Blueprint: docs/ultimate-festival-platform.md</a:t>
            </a:r>
            <a:endParaRPr lang="en-US" sz="12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Heyelab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Certified Festival Platform</dc:title>
  <dc:subject>Certified product, controlled activation, board decisions</dc:subject>
  <dc:creator>Heyelab / Texas SandFest Platform</dc:creator>
  <cp:lastModifiedBy>Heyelab / Texas SandFest Platform</cp:lastModifiedBy>
  <cp:revision>1</cp:revision>
  <dcterms:created xsi:type="dcterms:W3CDTF">2026-07-29T00:00:00Z</dcterms:created>
  <dcterms:modified xsi:type="dcterms:W3CDTF">2026-07-29T00:00:00Z</dcterms:modified>
</cp:coreProperties>
</file>